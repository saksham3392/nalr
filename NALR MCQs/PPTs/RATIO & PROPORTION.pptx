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400" r:id="rId2"/>
    <p:sldId id="450" r:id="rId3"/>
    <p:sldId id="451" r:id="rId4"/>
    <p:sldId id="448" r:id="rId5"/>
    <p:sldId id="449" r:id="rId6"/>
    <p:sldId id="401" r:id="rId7"/>
    <p:sldId id="402" r:id="rId8"/>
    <p:sldId id="407" r:id="rId9"/>
    <p:sldId id="404" r:id="rId10"/>
    <p:sldId id="405" r:id="rId11"/>
    <p:sldId id="406" r:id="rId12"/>
    <p:sldId id="403" r:id="rId13"/>
    <p:sldId id="309" r:id="rId14"/>
    <p:sldId id="408" r:id="rId15"/>
    <p:sldId id="359" r:id="rId16"/>
    <p:sldId id="409" r:id="rId17"/>
    <p:sldId id="360" r:id="rId18"/>
    <p:sldId id="410" r:id="rId19"/>
    <p:sldId id="361" r:id="rId20"/>
    <p:sldId id="411" r:id="rId21"/>
    <p:sldId id="362" r:id="rId22"/>
    <p:sldId id="412" r:id="rId23"/>
    <p:sldId id="363" r:id="rId24"/>
    <p:sldId id="413" r:id="rId25"/>
    <p:sldId id="364" r:id="rId26"/>
    <p:sldId id="414" r:id="rId27"/>
    <p:sldId id="366" r:id="rId28"/>
    <p:sldId id="416" r:id="rId29"/>
    <p:sldId id="367" r:id="rId30"/>
    <p:sldId id="417" r:id="rId31"/>
    <p:sldId id="368" r:id="rId32"/>
    <p:sldId id="418" r:id="rId33"/>
    <p:sldId id="369" r:id="rId34"/>
    <p:sldId id="419" r:id="rId35"/>
    <p:sldId id="370" r:id="rId36"/>
    <p:sldId id="420" r:id="rId37"/>
    <p:sldId id="372" r:id="rId38"/>
    <p:sldId id="422" r:id="rId39"/>
    <p:sldId id="373" r:id="rId40"/>
    <p:sldId id="423" r:id="rId41"/>
    <p:sldId id="375" r:id="rId42"/>
    <p:sldId id="425" r:id="rId43"/>
    <p:sldId id="377" r:id="rId44"/>
    <p:sldId id="427" r:id="rId45"/>
    <p:sldId id="379" r:id="rId46"/>
    <p:sldId id="429" r:id="rId47"/>
    <p:sldId id="380" r:id="rId48"/>
    <p:sldId id="430" r:id="rId49"/>
    <p:sldId id="383" r:id="rId50"/>
    <p:sldId id="433" r:id="rId51"/>
    <p:sldId id="386" r:id="rId52"/>
    <p:sldId id="434" r:id="rId53"/>
    <p:sldId id="387" r:id="rId54"/>
    <p:sldId id="435" r:id="rId55"/>
    <p:sldId id="388" r:id="rId56"/>
    <p:sldId id="436" r:id="rId57"/>
    <p:sldId id="391" r:id="rId58"/>
    <p:sldId id="439" r:id="rId59"/>
    <p:sldId id="393" r:id="rId60"/>
    <p:sldId id="440" r:id="rId61"/>
    <p:sldId id="396" r:id="rId62"/>
    <p:sldId id="443" r:id="rId63"/>
    <p:sldId id="397" r:id="rId64"/>
    <p:sldId id="444" r:id="rId65"/>
    <p:sldId id="398" r:id="rId66"/>
    <p:sldId id="452" r:id="rId67"/>
    <p:sldId id="310" r:id="rId68"/>
    <p:sldId id="447" r:id="rId69"/>
    <p:sldId id="26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5" d="100"/>
          <a:sy n="65" d="100"/>
        </p:scale>
        <p:origin x="85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650703-A386-4CE0-AB19-134686E19978}" type="datetimeFigureOut">
              <a:rPr lang="en-IN" smtClean="0"/>
              <a:t>28-07-2025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73438-5C4A-4C3E-BAD2-3D9F04B766A5}" type="slidenum">
              <a:rPr lang="en-IN" smtClean="0"/>
              <a:t>‹#›</a:t>
            </a:fld>
            <a:endParaRPr lang="en-IN"/>
          </a:p>
        </p:txBody>
      </p:sp>
    </p:spTree>
    <p:extLst>
      <p:ext uri="{BB962C8B-B14F-4D97-AF65-F5344CB8AC3E}">
        <p14:creationId xmlns:p14="http://schemas.microsoft.com/office/powerpoint/2010/main" val="3570210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28-07-2025</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t>
            </a:r>
          </a:p>
          <a:p>
            <a:pPr>
              <a:buNone/>
            </a:pPr>
            <a:r>
              <a:rPr lang="en-US" b="1" dirty="0">
                <a:solidFill>
                  <a:schemeClr val="tx1">
                    <a:lumMod val="95000"/>
                    <a:lumOff val="5000"/>
                  </a:schemeClr>
                </a:solidFill>
                <a:latin typeface="Arial Black" pitchFamily="34" charset="0"/>
              </a:rPr>
              <a:t>			   </a:t>
            </a:r>
            <a:r>
              <a:rPr lang="en-US" sz="4400" b="1" dirty="0">
                <a:solidFill>
                  <a:srgbClr val="FF0000"/>
                </a:solidFill>
                <a:latin typeface="Arial Black" pitchFamily="34" charset="0"/>
              </a:rPr>
              <a:t>RATIO AND PROPORTION</a:t>
            </a:r>
          </a:p>
          <a:p>
            <a:pPr>
              <a:buNone/>
            </a:pPr>
            <a:r>
              <a:rPr lang="en-US" b="1" dirty="0">
                <a:latin typeface="Arial Black" pitchFamily="34" charset="0"/>
              </a:rPr>
              <a:t> </a:t>
            </a:r>
            <a:endParaRPr lang="en-US" b="1" dirty="0"/>
          </a:p>
        </p:txBody>
      </p:sp>
      <p:pic>
        <p:nvPicPr>
          <p:cNvPr id="4" name="Picture 3"/>
          <p:cNvPicPr>
            <a:picLocks noChangeAspect="1"/>
          </p:cNvPicPr>
          <p:nvPr/>
        </p:nvPicPr>
        <p:blipFill>
          <a:blip r:embed="rId2"/>
          <a:stretch>
            <a:fillRect/>
          </a:stretch>
        </p:blipFill>
        <p:spPr>
          <a:xfrm>
            <a:off x="1997754" y="2743848"/>
            <a:ext cx="8147443" cy="3194372"/>
          </a:xfrm>
          <a:prstGeom prst="rect">
            <a:avLst/>
          </a:prstGeom>
        </p:spPr>
      </p:pic>
    </p:spTree>
    <p:extLst>
      <p:ext uri="{BB962C8B-B14F-4D97-AF65-F5344CB8AC3E}">
        <p14:creationId xmlns:p14="http://schemas.microsoft.com/office/powerpoint/2010/main" val="2787711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035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23;p5">
            <a:extLst>
              <a:ext uri="{FF2B5EF4-FFF2-40B4-BE49-F238E27FC236}">
                <a16:creationId xmlns:a16="http://schemas.microsoft.com/office/drawing/2014/main" id="{E3FC162D-4B0C-7556-1AE8-F2F1566253DA}"/>
              </a:ext>
            </a:extLst>
          </p:cNvPr>
          <p:cNvSpPr txBox="1">
            <a:spLocks/>
          </p:cNvSpPr>
          <p:nvPr/>
        </p:nvSpPr>
        <p:spPr>
          <a:xfrm>
            <a:off x="204952" y="1072055"/>
            <a:ext cx="11733048" cy="5344511"/>
          </a:xfrm>
          <a:prstGeom prst="rect">
            <a:avLst/>
          </a:prstGeom>
          <a:noFill/>
          <a:ln>
            <a:noFill/>
          </a:ln>
        </p:spPr>
        <p:txBody>
          <a:bodyPr spcFirstLastPara="1" vert="horz" wrap="square" lIns="91425" tIns="45700" rIns="91425" bIns="4570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FF0000"/>
              </a:buClr>
              <a:buSzPts val="2800"/>
              <a:buFont typeface="Arial" panose="020B0604020202020204" pitchFamily="34" charset="0"/>
              <a:buNone/>
            </a:pPr>
            <a:r>
              <a:rPr lang="en-GB" sz="2800" b="1">
                <a:solidFill>
                  <a:srgbClr val="FF0000"/>
                </a:solidFill>
                <a:latin typeface="Arial Black"/>
                <a:ea typeface="Arial Black"/>
                <a:cs typeface="Arial Black"/>
                <a:sym typeface="Arial Black"/>
              </a:rPr>
              <a:t>Note:-      </a:t>
            </a:r>
            <a:r>
              <a:rPr lang="en-GB" sz="2800" b="1">
                <a:latin typeface="Arial Black"/>
                <a:ea typeface="Arial Black"/>
                <a:cs typeface="Arial Black"/>
                <a:sym typeface="Arial Black"/>
              </a:rPr>
              <a:t>Product of extremes = Product of means</a:t>
            </a:r>
            <a:endParaRPr lang="en-GB" sz="2800" b="1"/>
          </a:p>
        </p:txBody>
      </p:sp>
      <p:pic>
        <p:nvPicPr>
          <p:cNvPr id="3" name="Picture 2">
            <a:extLst>
              <a:ext uri="{FF2B5EF4-FFF2-40B4-BE49-F238E27FC236}">
                <a16:creationId xmlns:a16="http://schemas.microsoft.com/office/drawing/2014/main" id="{D440C6D3-E766-A84E-1809-56E1FDA42203}"/>
              </a:ext>
            </a:extLst>
          </p:cNvPr>
          <p:cNvPicPr>
            <a:picLocks noChangeAspect="1"/>
          </p:cNvPicPr>
          <p:nvPr/>
        </p:nvPicPr>
        <p:blipFill rotWithShape="1">
          <a:blip r:embed="rId2">
            <a:duotone>
              <a:prstClr val="black"/>
              <a:schemeClr val="accent4">
                <a:tint val="45000"/>
                <a:satMod val="400000"/>
              </a:schemeClr>
            </a:duotone>
          </a:blip>
          <a:srcRect t="19962" b="6693"/>
          <a:stretch/>
        </p:blipFill>
        <p:spPr>
          <a:xfrm>
            <a:off x="2271753" y="1703438"/>
            <a:ext cx="7648494" cy="4618704"/>
          </a:xfrm>
          <a:prstGeom prst="rect">
            <a:avLst/>
          </a:prstGeom>
        </p:spPr>
      </p:pic>
    </p:spTree>
    <p:extLst>
      <p:ext uri="{BB962C8B-B14F-4D97-AF65-F5344CB8AC3E}">
        <p14:creationId xmlns:p14="http://schemas.microsoft.com/office/powerpoint/2010/main" val="2743708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Google Shape;130;p6">
                <a:extLst>
                  <a:ext uri="{FF2B5EF4-FFF2-40B4-BE49-F238E27FC236}">
                    <a16:creationId xmlns:a16="http://schemas.microsoft.com/office/drawing/2014/main" id="{EC13D194-5764-6CFC-7457-0E6A9F21EFCB}"/>
                  </a:ext>
                </a:extLst>
              </p:cNvPr>
              <p:cNvSpPr txBox="1">
                <a:spLocks/>
              </p:cNvSpPr>
              <p:nvPr/>
            </p:nvSpPr>
            <p:spPr>
              <a:xfrm>
                <a:off x="204952" y="836080"/>
                <a:ext cx="11733048" cy="5344511"/>
              </a:xfrm>
              <a:prstGeom prst="rect">
                <a:avLst/>
              </a:prstGeom>
              <a:noFill/>
              <a:ln>
                <a:noFill/>
              </a:ln>
            </p:spPr>
            <p:txBody>
              <a:bodyPr spcFirstLastPara="1" vert="horz" wrap="square" lIns="91425" tIns="45700" rIns="91425" bIns="45700" rtlCol="0" anchor="t" anchorCtr="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Clr>
                    <a:srgbClr val="0C0C0C"/>
                  </a:buClr>
                  <a:buSzPts val="2400"/>
                  <a:buFont typeface="Arial" panose="020B0604020202020204" pitchFamily="34" charset="0"/>
                  <a:buNone/>
                </a:pPr>
                <a:r>
                  <a:rPr lang="en-US" b="1">
                    <a:solidFill>
                      <a:srgbClr val="0C0C0C"/>
                    </a:solidFill>
                    <a:latin typeface="Arial Black"/>
                    <a:ea typeface="Arial Black"/>
                    <a:cs typeface="Arial Black"/>
                    <a:sym typeface="Arial Black"/>
                  </a:rPr>
                  <a:t>		RATIO AND PROPORTION</a:t>
                </a:r>
                <a:endParaRPr lang="en-US"/>
              </a:p>
              <a:p>
                <a:pPr marL="0" indent="0" algn="ctr">
                  <a:lnSpc>
                    <a:spcPct val="115000"/>
                  </a:lnSpc>
                  <a:spcBef>
                    <a:spcPts val="0"/>
                  </a:spcBef>
                  <a:buFont typeface="Arial" panose="020B0604020202020204" pitchFamily="34" charset="0"/>
                  <a:buNone/>
                </a:pPr>
                <a:r>
                  <a:rPr lang="en-US" sz="2800" b="1" u="sng">
                    <a:latin typeface="Times New Roman" panose="02020603050405020304" pitchFamily="18" charset="0"/>
                    <a:ea typeface="Calibri" panose="020F0502020204030204" pitchFamily="34" charset="0"/>
                    <a:cs typeface="Mangal" panose="00000400000000000000" pitchFamily="2"/>
                  </a:rPr>
                  <a:t>Some Basic Formulae</a:t>
                </a:r>
                <a:endParaRPr lang="en-US" sz="2800" b="1">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If four quantities are in proportion, then Product of mean </a:t>
                </a:r>
                <a14:m>
                  <m:oMath xmlns:m="http://schemas.openxmlformats.org/officeDocument/2006/math">
                    <m:r>
                      <a:rPr lang="en-US" i="1" smtClean="0">
                        <a:latin typeface="Cambria Math" panose="02040503050406030204" pitchFamily="18" charset="0"/>
                        <a:ea typeface="Cambria Math" panose="02040503050406030204" pitchFamily="18" charset="0"/>
                        <a:cs typeface="Mangal" panose="00000400000000000000" pitchFamily="2"/>
                      </a:rPr>
                      <m:t>=</m:t>
                    </m:r>
                  </m:oMath>
                </a14:m>
                <a:r>
                  <a:rPr lang="en-US">
                    <a:latin typeface="Times New Roman" panose="02020603050405020304" pitchFamily="18" charset="0"/>
                    <a:ea typeface="Calibri" panose="020F0502020204030204" pitchFamily="34" charset="0"/>
                    <a:cs typeface="Mangal" panose="00000400000000000000" pitchFamily="2"/>
                  </a:rPr>
                  <a:t> Product of extreme.</a:t>
                </a:r>
                <a:endParaRPr lang="en-US">
                  <a:latin typeface="Calibri" panose="020F0502020204030204" pitchFamily="34" charset="0"/>
                  <a:ea typeface="Calibri" panose="020F0502020204030204" pitchFamily="34" charset="0"/>
                  <a:cs typeface="Mangal" panose="00000400000000000000" pitchFamily="2"/>
                </a:endParaRPr>
              </a:p>
              <a:p>
                <a:pPr marL="1905000" indent="0">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			           a : b : : c : d</a:t>
                </a:r>
                <a:endParaRPr lang="en-US">
                  <a:latin typeface="Calibri" panose="020F0502020204030204" pitchFamily="34" charset="0"/>
                  <a:ea typeface="Calibri" panose="020F0502020204030204" pitchFamily="34" charset="0"/>
                  <a:cs typeface="Mangal" panose="00000400000000000000" pitchFamily="2"/>
                </a:endParaRPr>
              </a:p>
              <a:p>
                <a:pPr marL="1905000" indent="0">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 			              </a:t>
                </a:r>
                <a:r>
                  <a:rPr lang="en-US" err="1">
                    <a:latin typeface="Times New Roman" panose="02020603050405020304" pitchFamily="18" charset="0"/>
                    <a:ea typeface="Calibri" panose="020F0502020204030204" pitchFamily="34" charset="0"/>
                    <a:cs typeface="Mangal" panose="00000400000000000000" pitchFamily="2"/>
                  </a:rPr>
                  <a:t>bc</a:t>
                </a:r>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ad</a:t>
                </a:r>
                <a:endParaRPr lang="en-US">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Fourth proportional:</a:t>
                </a:r>
                <a:endParaRPr lang="en-US">
                  <a:latin typeface="Calibri" panose="020F0502020204030204" pitchFamily="34" charset="0"/>
                  <a:ea typeface="Calibri" panose="020F0502020204030204" pitchFamily="34" charset="0"/>
                  <a:cs typeface="Mangal" panose="00000400000000000000" pitchFamily="2"/>
                </a:endParaRPr>
              </a:p>
              <a:p>
                <a:pPr marL="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b : : c : </a:t>
                </a:r>
                <a:r>
                  <a:rPr lang="en-US" i="1">
                    <a:latin typeface="Times New Roman" panose="02020603050405020304" pitchFamily="18" charset="0"/>
                    <a:ea typeface="Calibri" panose="020F0502020204030204" pitchFamily="34" charset="0"/>
                    <a:cs typeface="Mangal" panose="00000400000000000000" pitchFamily="2"/>
                  </a:rPr>
                  <a:t>x</a:t>
                </a:r>
                <a:endParaRPr lang="en-US">
                  <a:latin typeface="Calibri" panose="020F0502020204030204" pitchFamily="34" charset="0"/>
                  <a:ea typeface="Calibri" panose="020F0502020204030204" pitchFamily="34" charset="0"/>
                  <a:cs typeface="Mangal" panose="00000400000000000000" pitchFamily="2"/>
                </a:endParaRPr>
              </a:p>
              <a:p>
                <a:pPr marL="0" indent="0" algn="ctr">
                  <a:lnSpc>
                    <a:spcPct val="115000"/>
                  </a:lnSpc>
                  <a:spcBef>
                    <a:spcPts val="0"/>
                  </a:spcBef>
                  <a:buFont typeface="Arial" panose="020B0604020202020204" pitchFamily="34" charset="0"/>
                  <a:buNone/>
                </a:pPr>
                <a:r>
                  <a:rPr lang="en-US"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a:rPr lang="ar-AE" i="1">
                            <a:latin typeface="Cambria Math" panose="02040503050406030204" pitchFamily="18" charset="0"/>
                            <a:ea typeface="Calibri" panose="020F0502020204030204" pitchFamily="34" charset="0"/>
                            <a:cs typeface="Times New Roman" panose="02020603050405020304" pitchFamily="18" charset="0"/>
                          </a:rPr>
                          <m:t>𝑏𝑐</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den>
                    </m:f>
                  </m:oMath>
                </a14:m>
                <a:r>
                  <a:rPr lang="ar-AE">
                    <a:latin typeface="Times New Roman" panose="02020603050405020304" pitchFamily="18" charset="0"/>
                    <a:ea typeface="Times New Roman" panose="02020603050405020304" pitchFamily="18" charset="0"/>
                    <a:cs typeface="Mangal" panose="00000400000000000000" pitchFamily="2"/>
                  </a:rPr>
                  <a:t> </a:t>
                </a:r>
                <a:endParaRPr lang="ar-AE">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Third proportional:</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b : : b : </a:t>
                </a:r>
                <a:r>
                  <a:rPr lang="en-US" i="1">
                    <a:latin typeface="Times New Roman" panose="02020603050405020304" pitchFamily="18" charset="0"/>
                    <a:ea typeface="Calibri" panose="020F0502020204030204" pitchFamily="34" charset="0"/>
                    <a:cs typeface="Mangal" panose="00000400000000000000" pitchFamily="2"/>
                  </a:rPr>
                  <a:t>x</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ar-AE" i="1" smtClean="0">
                                <a:latin typeface="Cambria Math" panose="02040503050406030204" pitchFamily="18" charset="0"/>
                                <a:ea typeface="Calibri" panose="020F0502020204030204" pitchFamily="34" charset="0"/>
                                <a:cs typeface="Times New Roman" panose="02020603050405020304" pitchFamily="18" charset="0"/>
                              </a:rPr>
                            </m:ctrlPr>
                          </m:sSupPr>
                          <m:e>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e>
                          <m:sup>
                            <m:r>
                              <a:rPr lang="ar-AE" i="1" smtClean="0">
                                <a:latin typeface="Cambria Math" panose="02040503050406030204" pitchFamily="18" charset="0"/>
                                <a:ea typeface="Calibri" panose="020F0502020204030204" pitchFamily="34" charset="0"/>
                                <a:cs typeface="Times New Roman" panose="02020603050405020304" pitchFamily="18" charset="0"/>
                              </a:rPr>
                              <m:t>2</m:t>
                            </m:r>
                          </m:sup>
                        </m:sSup>
                      </m:num>
                      <m:den>
                        <m:r>
                          <a:rPr lang="ar-AE" i="1">
                            <a:latin typeface="Cambria Math" panose="02040503050406030204" pitchFamily="18" charset="0"/>
                            <a:ea typeface="Calibri" panose="020F0502020204030204" pitchFamily="34" charset="0"/>
                            <a:cs typeface="Times New Roman" panose="02020603050405020304" pitchFamily="18" charset="0"/>
                          </a:rPr>
                          <m:t>𝑎</m:t>
                        </m:r>
                      </m:den>
                    </m:f>
                  </m:oMath>
                </a14:m>
                <a:endParaRPr lang="ar-AE">
                  <a:latin typeface="Calibri" panose="020F0502020204030204" pitchFamily="34" charset="0"/>
                  <a:ea typeface="Calibri" panose="020F0502020204030204" pitchFamily="34" charset="0"/>
                  <a:cs typeface="Mangal" panose="00000400000000000000" pitchFamily="2"/>
                </a:endParaRPr>
              </a:p>
              <a:p>
                <a:pPr marL="342900" indent="-342900">
                  <a:lnSpc>
                    <a:spcPct val="115000"/>
                  </a:lnSpc>
                  <a:spcBef>
                    <a:spcPts val="0"/>
                  </a:spcBef>
                  <a:buFont typeface="Wingdings" panose="05000000000000000000" pitchFamily="2" charset="2"/>
                  <a:buChar char=""/>
                </a:pPr>
                <a:r>
                  <a:rPr lang="en-US">
                    <a:latin typeface="Times New Roman" panose="02020603050405020304" pitchFamily="18" charset="0"/>
                    <a:ea typeface="Calibri" panose="020F0502020204030204" pitchFamily="34" charset="0"/>
                    <a:cs typeface="Mangal" panose="00000400000000000000" pitchFamily="2"/>
                  </a:rPr>
                  <a:t>Mean proportional:</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a:latin typeface="Times New Roman" panose="02020603050405020304" pitchFamily="18" charset="0"/>
                    <a:ea typeface="Calibri" panose="020F0502020204030204" pitchFamily="34" charset="0"/>
                    <a:cs typeface="Mangal" panose="00000400000000000000" pitchFamily="2"/>
                  </a:rPr>
                  <a:t>If a : </a:t>
                </a:r>
                <a:r>
                  <a:rPr lang="en-US" i="1">
                    <a:latin typeface="Times New Roman" panose="02020603050405020304" pitchFamily="18" charset="0"/>
                    <a:ea typeface="Calibri" panose="020F0502020204030204" pitchFamily="34" charset="0"/>
                    <a:cs typeface="Mangal" panose="00000400000000000000" pitchFamily="2"/>
                  </a:rPr>
                  <a:t>x</a:t>
                </a:r>
                <a:r>
                  <a:rPr lang="en-US">
                    <a:latin typeface="Times New Roman" panose="02020603050405020304" pitchFamily="18" charset="0"/>
                    <a:ea typeface="Calibri" panose="020F0502020204030204" pitchFamily="34" charset="0"/>
                    <a:cs typeface="Mangal" panose="00000400000000000000" pitchFamily="2"/>
                  </a:rPr>
                  <a:t> : : </a:t>
                </a:r>
                <a:r>
                  <a:rPr lang="en-US" i="1">
                    <a:latin typeface="Times New Roman" panose="02020603050405020304" pitchFamily="18" charset="0"/>
                    <a:ea typeface="Calibri" panose="020F0502020204030204" pitchFamily="34" charset="0"/>
                    <a:cs typeface="Mangal" panose="00000400000000000000" pitchFamily="2"/>
                  </a:rPr>
                  <a:t>x</a:t>
                </a:r>
                <a:r>
                  <a:rPr lang="en-US">
                    <a:latin typeface="Times New Roman" panose="02020603050405020304" pitchFamily="18" charset="0"/>
                    <a:ea typeface="Calibri" panose="020F0502020204030204" pitchFamily="34" charset="0"/>
                    <a:cs typeface="Mangal" panose="00000400000000000000" pitchFamily="2"/>
                  </a:rPr>
                  <a:t> : b</a:t>
                </a:r>
                <a:endParaRPr lang="en-US">
                  <a:latin typeface="Calibri" panose="020F0502020204030204" pitchFamily="34" charset="0"/>
                  <a:ea typeface="Calibri" panose="020F0502020204030204" pitchFamily="34" charset="0"/>
                  <a:cs typeface="Mangal" panose="00000400000000000000" pitchFamily="2"/>
                </a:endParaRPr>
              </a:p>
              <a:p>
                <a:pPr marL="76200" indent="0" algn="ctr">
                  <a:lnSpc>
                    <a:spcPct val="115000"/>
                  </a:lnSpc>
                  <a:spcBef>
                    <a:spcPts val="0"/>
                  </a:spcBef>
                  <a:buFont typeface="Arial" panose="020B0604020202020204" pitchFamily="34" charset="0"/>
                  <a:buNone/>
                </a:pPr>
                <a:r>
                  <a:rPr lang="en-US" sz="1800" i="1">
                    <a:latin typeface="Times New Roman" panose="02020603050405020304" pitchFamily="18" charset="0"/>
                    <a:ea typeface="Calibri" panose="020F0502020204030204" pitchFamily="34" charset="0"/>
                    <a:cs typeface="Mangal" panose="00000400000000000000" pitchFamily="2"/>
                  </a:rPr>
                  <a:t>x </a:t>
                </a:r>
                <a14:m>
                  <m:oMath xmlns:m="http://schemas.openxmlformats.org/officeDocument/2006/math">
                    <m:r>
                      <a:rPr lang="en-US" sz="1800" i="1">
                        <a:latin typeface="Cambria Math" panose="02040503050406030204" pitchFamily="18" charset="0"/>
                        <a:ea typeface="Calibri" panose="020F0502020204030204" pitchFamily="34" charset="0"/>
                        <a:cs typeface="Times New Roman" panose="02020603050405020304" pitchFamily="18" charset="0"/>
                      </a:rPr>
                      <m:t>=</m:t>
                    </m:r>
                  </m:oMath>
                </a14:m>
                <a:r>
                  <a:rPr lang="en-US" sz="1800">
                    <a:latin typeface="Times New Roman" panose="02020603050405020304" pitchFamily="18" charset="0"/>
                    <a:ea typeface="Calibri" panose="020F0502020204030204" pitchFamily="34" charset="0"/>
                    <a:cs typeface="Mangal" panose="00000400000000000000" pitchFamily="2"/>
                  </a:rPr>
                  <a:t> </a:t>
                </a:r>
                <a14:m>
                  <m:oMath xmlns:m="http://schemas.openxmlformats.org/officeDocument/2006/math">
                    <m:rad>
                      <m:radPr>
                        <m:degHide m:val="on"/>
                        <m:ctrlPr>
                          <a:rPr lang="ar-AE" sz="1800" i="1">
                            <a:latin typeface="Cambria Math" panose="02040503050406030204" pitchFamily="18" charset="0"/>
                            <a:ea typeface="Calibri" panose="020F0502020204030204" pitchFamily="34" charset="0"/>
                            <a:cs typeface="Times New Roman" panose="02020603050405020304" pitchFamily="18" charset="0"/>
                          </a:rPr>
                        </m:ctrlPr>
                      </m:radPr>
                      <m:deg/>
                      <m:e>
                        <m:r>
                          <a:rPr lang="ar-AE" sz="1800" i="1">
                            <a:latin typeface="Cambria Math" panose="02040503050406030204" pitchFamily="18" charset="0"/>
                            <a:ea typeface="Calibri" panose="020F0502020204030204" pitchFamily="34" charset="0"/>
                            <a:cs typeface="Times New Roman" panose="02020603050405020304" pitchFamily="18" charset="0"/>
                          </a:rPr>
                          <m:t>𝑎𝑏</m:t>
                        </m:r>
                      </m:e>
                    </m:rad>
                  </m:oMath>
                </a14:m>
                <a:endParaRPr lang="ar-AE" sz="1800">
                  <a:latin typeface="Calibri" panose="020F0502020204030204" pitchFamily="34" charset="0"/>
                  <a:ea typeface="Calibri" panose="020F0502020204030204" pitchFamily="34" charset="0"/>
                  <a:cs typeface="Mangal" panose="00000400000000000000" pitchFamily="2"/>
                </a:endParaRPr>
              </a:p>
              <a:p>
                <a:pPr>
                  <a:buClr>
                    <a:schemeClr val="dk1"/>
                  </a:buClr>
                  <a:buSzPts val="2400"/>
                  <a:buFont typeface="Arial" panose="020B0604020202020204" pitchFamily="34" charset="0"/>
                  <a:buNone/>
                </a:pPr>
                <a:endParaRPr lang="ar-AE" b="1">
                  <a:solidFill>
                    <a:srgbClr val="0C0C0C"/>
                  </a:solidFill>
                  <a:latin typeface="Arial Black"/>
                  <a:ea typeface="Arial Black"/>
                  <a:cs typeface="Arial Black"/>
                  <a:sym typeface="Arial Black"/>
                </a:endParaRPr>
              </a:p>
            </p:txBody>
          </p:sp>
        </mc:Choice>
        <mc:Fallback xmlns="">
          <p:sp>
            <p:nvSpPr>
              <p:cNvPr id="9" name="Google Shape;130;p6">
                <a:extLst>
                  <a:ext uri="{FF2B5EF4-FFF2-40B4-BE49-F238E27FC236}">
                    <a16:creationId xmlns:a16="http://schemas.microsoft.com/office/drawing/2014/main" id="{EC13D194-5764-6CFC-7457-0E6A9F21EFCB}"/>
                  </a:ext>
                </a:extLst>
              </p:cNvPr>
              <p:cNvSpPr txBox="1">
                <a:spLocks noRot="1" noChangeAspect="1" noMove="1" noResize="1" noEditPoints="1" noAdjustHandles="1" noChangeArrowheads="1" noChangeShapeType="1" noTextEdit="1"/>
              </p:cNvSpPr>
              <p:nvPr/>
            </p:nvSpPr>
            <p:spPr>
              <a:xfrm>
                <a:off x="204952" y="836080"/>
                <a:ext cx="11733048" cy="5344511"/>
              </a:xfrm>
              <a:prstGeom prst="rect">
                <a:avLst/>
              </a:prstGeom>
              <a:blipFill>
                <a:blip r:embed="rId2"/>
                <a:stretch>
                  <a:fillRect l="-572" t="-1938" b="-342"/>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951444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Google Shape;130;p6">
                <a:extLst>
                  <a:ext uri="{FF2B5EF4-FFF2-40B4-BE49-F238E27FC236}">
                    <a16:creationId xmlns:a16="http://schemas.microsoft.com/office/drawing/2014/main" id="{459B4C36-4E24-F9A4-7DFE-64288F55A8D5}"/>
                  </a:ext>
                </a:extLst>
              </p:cNvPr>
              <p:cNvSpPr txBox="1">
                <a:spLocks/>
              </p:cNvSpPr>
              <p:nvPr/>
            </p:nvSpPr>
            <p:spPr>
              <a:xfrm>
                <a:off x="137652" y="845912"/>
                <a:ext cx="11965857" cy="5344511"/>
              </a:xfrm>
              <a:prstGeom prst="rect">
                <a:avLst/>
              </a:prstGeom>
              <a:noFill/>
              <a:ln>
                <a:noFill/>
              </a:ln>
            </p:spPr>
            <p:txBody>
              <a:bodyPr spcFirstLastPara="1" vert="horz" wrap="square" lIns="91425" tIns="45700" rIns="91425" bIns="45700" rtlCol="0" anchor="t"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lang="en-IN" sz="2400" kern="1200" dirty="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96875" indent="-396875">
                  <a:spcBef>
                    <a:spcPts val="0"/>
                  </a:spcBef>
                  <a:buClr>
                    <a:srgbClr val="0C0C0C"/>
                  </a:buClr>
                  <a:buSzPts val="2400"/>
                  <a:buFont typeface="Wingdings" panose="05000000000000000000" pitchFamily="2" charset="2"/>
                  <a:buChar char="Ø"/>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and the sum of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396875" indent="-396875"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Calibri" panose="020F0502020204030204" pitchFamily="34" charset="0"/>
                    <a:cs typeface="Mangal" panose="00000400000000000000" pitchFamily="2"/>
                  </a:rPr>
                  <a:t> </a:t>
                </a:r>
                <a:endParaRPr lang="ar-AE" dirty="0">
                  <a:latin typeface="Calibri" panose="020F0502020204030204" pitchFamily="34" charset="0"/>
                  <a:ea typeface="Calibri" panose="020F0502020204030204" pitchFamily="34" charset="0"/>
                  <a:cs typeface="Mangal" panose="00000400000000000000" pitchFamily="2"/>
                </a:endParaRPr>
              </a:p>
              <a:p>
                <a:pPr marL="396875" indent="-396875">
                  <a:lnSpc>
                    <a:spcPct val="150000"/>
                  </a:lnSpc>
                  <a:spcBef>
                    <a:spcPts val="0"/>
                  </a:spcBef>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and the difference between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396875" indent="-396875"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den>
                    </m:f>
                  </m:oMath>
                </a14:m>
                <a:endParaRPr lang="ar-AE" dirty="0">
                  <a:latin typeface="Calibri" panose="020F0502020204030204" pitchFamily="34" charset="0"/>
                  <a:ea typeface="Calibri" panose="020F0502020204030204" pitchFamily="34" charset="0"/>
                  <a:cs typeface="Mangal" panose="00000400000000000000" pitchFamily="2"/>
                </a:endParaRPr>
              </a:p>
              <a:p>
                <a:pPr marL="396875" indent="-396875">
                  <a:lnSpc>
                    <a:spcPct val="150000"/>
                  </a:lnSpc>
                  <a:spcBef>
                    <a:spcPts val="0"/>
                  </a:spcBef>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Mangal" panose="00000400000000000000" pitchFamily="2"/>
                  </a:rPr>
                  <a:t>If two numbers are in the ratio of a : b : c and the sum of these numbers is </a:t>
                </a:r>
                <a:r>
                  <a:rPr lang="en-US" i="1" dirty="0">
                    <a:latin typeface="Times New Roman" panose="02020603050405020304" pitchFamily="18" charset="0"/>
                    <a:ea typeface="Calibri" panose="020F0502020204030204" pitchFamily="34" charset="0"/>
                    <a:cs typeface="Mangal" panose="00000400000000000000" pitchFamily="2"/>
                  </a:rPr>
                  <a:t>x</a:t>
                </a:r>
                <a:r>
                  <a:rPr lang="en-US" dirty="0">
                    <a:latin typeface="Times New Roman" panose="02020603050405020304" pitchFamily="18" charset="0"/>
                    <a:ea typeface="Calibri" panose="020F0502020204030204" pitchFamily="34" charset="0"/>
                    <a:cs typeface="Mangal" panose="00000400000000000000" pitchFamily="2"/>
                  </a:rPr>
                  <a:t>, then the numbers will be-</a:t>
                </a:r>
                <a:endParaRPr lang="en-US" dirty="0">
                  <a:latin typeface="Calibri" panose="020F0502020204030204" pitchFamily="34" charset="0"/>
                  <a:ea typeface="Calibri" panose="020F0502020204030204" pitchFamily="34" charset="0"/>
                  <a:cs typeface="Mangal" panose="00000400000000000000" pitchFamily="2"/>
                </a:endParaRPr>
              </a:p>
              <a:p>
                <a:pPr marL="76200" indent="0" algn="ctr">
                  <a:lnSpc>
                    <a:spcPct val="150000"/>
                  </a:lnSpc>
                  <a:spcBef>
                    <a:spcPts val="0"/>
                  </a:spcBef>
                  <a:buFont typeface="Arial" panose="020B0604020202020204" pitchFamily="34" charset="0"/>
                  <a:buNone/>
                </a:pP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a</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b</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r>
                  <a:rPr lang="ar-AE" dirty="0">
                    <a:latin typeface="Times New Roman" panose="02020603050405020304" pitchFamily="18" charset="0"/>
                    <a:ea typeface="Times New Roman" panose="02020603050405020304" pitchFamily="18" charset="0"/>
                    <a:cs typeface="Mangal" panose="00000400000000000000" pitchFamily="2"/>
                  </a:rPr>
                  <a:t> </a:t>
                </a:r>
                <a:r>
                  <a:rPr lang="en-US" dirty="0">
                    <a:latin typeface="Times New Roman" panose="02020603050405020304" pitchFamily="18" charset="0"/>
                    <a:ea typeface="Times New Roman" panose="02020603050405020304" pitchFamily="18" charset="0"/>
                    <a:cs typeface="Mangal" panose="00000400000000000000" pitchFamily="2"/>
                  </a:rPr>
                  <a:t>and </a:t>
                </a:r>
                <a14:m>
                  <m:oMath xmlns:m="http://schemas.openxmlformats.org/officeDocument/2006/math">
                    <m:f>
                      <m:fPr>
                        <m:ctrlPr>
                          <a:rPr lang="ar-AE" i="1">
                            <a:latin typeface="Cambria Math" panose="02040503050406030204" pitchFamily="18" charset="0"/>
                            <a:ea typeface="Calibri" panose="020F0502020204030204" pitchFamily="34" charset="0"/>
                            <a:cs typeface="Times New Roman" panose="02020603050405020304" pitchFamily="18" charset="0"/>
                          </a:rPr>
                        </m:ctrlPr>
                      </m:fPr>
                      <m:num>
                        <m:r>
                          <m:rPr>
                            <m:sty m:val="p"/>
                          </m:rPr>
                          <a:rPr lang="en-US">
                            <a:latin typeface="Cambria Math" panose="02040503050406030204" pitchFamily="18" charset="0"/>
                            <a:ea typeface="Calibri" panose="020F0502020204030204" pitchFamily="34" charset="0"/>
                            <a:cs typeface="Times New Roman" panose="02020603050405020304" pitchFamily="18" charset="0"/>
                          </a:rPr>
                          <m:t>c</m:t>
                        </m:r>
                        <m:r>
                          <a:rPr lang="en-US" i="1">
                            <a:latin typeface="Cambria Math" panose="02040503050406030204" pitchFamily="18" charset="0"/>
                            <a:ea typeface="Calibri" panose="020F0502020204030204" pitchFamily="34" charset="0"/>
                            <a:cs typeface="Times New Roman" panose="02020603050405020304" pitchFamily="18" charset="0"/>
                          </a:rPr>
                          <m:t>𝑥</m:t>
                        </m:r>
                      </m:num>
                      <m:den>
                        <m:r>
                          <a:rPr lang="ar-AE" i="1">
                            <a:latin typeface="Cambria Math" panose="02040503050406030204" pitchFamily="18" charset="0"/>
                            <a:ea typeface="Calibri" panose="020F0502020204030204" pitchFamily="34" charset="0"/>
                            <a:cs typeface="Times New Roman" panose="02020603050405020304" pitchFamily="18" charset="0"/>
                          </a:rPr>
                          <m:t>𝑎</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𝑏</m:t>
                        </m:r>
                        <m:r>
                          <a:rPr lang="ar-AE" i="1">
                            <a:latin typeface="Cambria Math" panose="02040503050406030204" pitchFamily="18" charset="0"/>
                            <a:ea typeface="Calibri" panose="020F0502020204030204" pitchFamily="34" charset="0"/>
                            <a:cs typeface="Times New Roman" panose="02020603050405020304" pitchFamily="18" charset="0"/>
                          </a:rPr>
                          <m:t>+</m:t>
                        </m:r>
                        <m:r>
                          <a:rPr lang="ar-AE" i="1">
                            <a:latin typeface="Cambria Math" panose="02040503050406030204" pitchFamily="18" charset="0"/>
                            <a:ea typeface="Calibri" panose="020F0502020204030204" pitchFamily="34" charset="0"/>
                            <a:cs typeface="Times New Roman" panose="02020603050405020304" pitchFamily="18" charset="0"/>
                          </a:rPr>
                          <m:t>𝑐</m:t>
                        </m:r>
                      </m:den>
                    </m:f>
                  </m:oMath>
                </a14:m>
                <a:endParaRPr lang="ar-AE" dirty="0">
                  <a:latin typeface="Calibri" panose="020F0502020204030204" pitchFamily="34" charset="0"/>
                  <a:ea typeface="Calibri" panose="020F0502020204030204" pitchFamily="34" charset="0"/>
                  <a:cs typeface="Mangal" panose="00000400000000000000" pitchFamily="2"/>
                </a:endParaRPr>
              </a:p>
              <a:p>
                <a:pPr>
                  <a:buClr>
                    <a:schemeClr val="dk1"/>
                  </a:buClr>
                  <a:buSzPts val="2400"/>
                  <a:buFont typeface="Arial" panose="020B0604020202020204" pitchFamily="34" charset="0"/>
                  <a:buNone/>
                </a:pPr>
                <a:endParaRPr lang="ar-AE" b="1" dirty="0">
                  <a:solidFill>
                    <a:srgbClr val="0C0C0C"/>
                  </a:solidFill>
                  <a:latin typeface="Arial Black"/>
                  <a:ea typeface="Arial Black"/>
                  <a:cs typeface="Arial Black"/>
                  <a:sym typeface="Arial Black"/>
                </a:endParaRPr>
              </a:p>
            </p:txBody>
          </p:sp>
        </mc:Choice>
        <mc:Fallback xmlns="">
          <p:sp>
            <p:nvSpPr>
              <p:cNvPr id="2" name="Google Shape;130;p6">
                <a:extLst>
                  <a:ext uri="{FF2B5EF4-FFF2-40B4-BE49-F238E27FC236}">
                    <a16:creationId xmlns:a16="http://schemas.microsoft.com/office/drawing/2014/main" id="{459B4C36-4E24-F9A4-7DFE-64288F55A8D5}"/>
                  </a:ext>
                </a:extLst>
              </p:cNvPr>
              <p:cNvSpPr txBox="1">
                <a:spLocks noRot="1" noChangeAspect="1" noMove="1" noResize="1" noEditPoints="1" noAdjustHandles="1" noChangeArrowheads="1" noChangeShapeType="1" noTextEdit="1"/>
              </p:cNvSpPr>
              <p:nvPr/>
            </p:nvSpPr>
            <p:spPr>
              <a:xfrm>
                <a:off x="137652" y="845912"/>
                <a:ext cx="11965857" cy="5344511"/>
              </a:xfrm>
              <a:prstGeom prst="rect">
                <a:avLst/>
              </a:prstGeom>
              <a:blipFill>
                <a:blip r:embed="rId2"/>
                <a:stretch>
                  <a:fillRect l="-714" t="-2283"/>
                </a:stretch>
              </a:blipFill>
              <a:ln>
                <a:noFill/>
              </a:ln>
            </p:spPr>
            <p:txBody>
              <a:bodyPr/>
              <a:lstStyle/>
              <a:p>
                <a:r>
                  <a:rPr lang="en-IN">
                    <a:noFill/>
                  </a:rPr>
                  <a:t> </a:t>
                </a:r>
              </a:p>
            </p:txBody>
          </p:sp>
        </mc:Fallback>
      </mc:AlternateContent>
    </p:spTree>
    <p:extLst>
      <p:ext uri="{BB962C8B-B14F-4D97-AF65-F5344CB8AC3E}">
        <p14:creationId xmlns:p14="http://schemas.microsoft.com/office/powerpoint/2010/main" val="211223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u="sng" dirty="0">
                <a:solidFill>
                  <a:srgbClr val="FF0000"/>
                </a:solidFill>
              </a:rPr>
              <a:t>RATIO:-</a:t>
            </a:r>
          </a:p>
          <a:p>
            <a:pPr>
              <a:buNone/>
            </a:pPr>
            <a:r>
              <a:rPr lang="en-US" b="1" dirty="0">
                <a:solidFill>
                  <a:schemeClr val="tx1">
                    <a:lumMod val="95000"/>
                    <a:lumOff val="5000"/>
                  </a:schemeClr>
                </a:solidFill>
              </a:rPr>
              <a:t>A ratio is a comparison of two or more quantities of similar type. The ratio of a and b is written as  .</a:t>
            </a:r>
          </a:p>
          <a:p>
            <a:pPr>
              <a:buNone/>
            </a:pPr>
            <a:r>
              <a:rPr lang="en-US" b="1" dirty="0">
                <a:solidFill>
                  <a:schemeClr val="tx1">
                    <a:lumMod val="95000"/>
                    <a:lumOff val="5000"/>
                  </a:schemeClr>
                </a:solidFill>
              </a:rPr>
              <a:t>In the ratio a : b, a and b are called the terms of the ratio where ‘a’ is the antecedent and ‘b’ is the consequent.</a:t>
            </a:r>
          </a:p>
          <a:p>
            <a:pPr>
              <a:buNone/>
            </a:pPr>
            <a:endParaRPr lang="en-US" b="1" dirty="0">
              <a:solidFill>
                <a:schemeClr val="tx1">
                  <a:lumMod val="95000"/>
                  <a:lumOff val="5000"/>
                </a:schemeClr>
              </a:solidFill>
              <a:latin typeface="Arial Black" pitchFamily="34" charset="0"/>
            </a:endParaRPr>
          </a:p>
          <a:p>
            <a:pPr marL="0" indent="0">
              <a:buNone/>
            </a:pPr>
            <a:r>
              <a:rPr lang="en-US" b="1" dirty="0">
                <a:latin typeface="Arial Black" pitchFamily="34" charset="0"/>
              </a:rPr>
              <a:t> </a:t>
            </a:r>
            <a:r>
              <a:rPr lang="en-US" b="1" dirty="0">
                <a:solidFill>
                  <a:srgbClr val="C00000"/>
                </a:solidFill>
              </a:rPr>
              <a:t>Important Properties of Proportion</a:t>
            </a:r>
          </a:p>
          <a:p>
            <a:pPr>
              <a:buNone/>
            </a:pPr>
            <a:endParaRPr lang="en-US" b="1" dirty="0"/>
          </a:p>
        </p:txBody>
      </p:sp>
    </p:spTree>
    <p:extLst>
      <p:ext uri="{BB962C8B-B14F-4D97-AF65-F5344CB8AC3E}">
        <p14:creationId xmlns:p14="http://schemas.microsoft.com/office/powerpoint/2010/main" val="3889550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861751"/>
            <a:ext cx="11733048" cy="5554816"/>
          </a:xfrm>
        </p:spPr>
        <p:txBody>
          <a:bodyPr>
            <a:normAutofit fontScale="92500" lnSpcReduction="10000"/>
          </a:bodyPr>
          <a:lstStyle/>
          <a:p>
            <a:pPr>
              <a:buNone/>
            </a:pPr>
            <a:r>
              <a:rPr lang="en-US" sz="2600" b="1" dirty="0">
                <a:solidFill>
                  <a:schemeClr val="tx1">
                    <a:lumMod val="95000"/>
                    <a:lumOff val="5000"/>
                  </a:schemeClr>
                </a:solidFill>
                <a:latin typeface="Arial Black" pitchFamily="34" charset="0"/>
              </a:rPr>
              <a:t>		RATIO AND PROPORTION</a:t>
            </a:r>
          </a:p>
          <a:p>
            <a:pPr>
              <a:buNone/>
            </a:pPr>
            <a:r>
              <a:rPr lang="en-US" sz="2600" b="1" u="sng" dirty="0">
                <a:solidFill>
                  <a:srgbClr val="FF0000"/>
                </a:solidFill>
                <a:latin typeface="Arial Black" pitchFamily="34" charset="0"/>
              </a:rPr>
              <a:t>Properties of Ratio:-</a:t>
            </a:r>
          </a:p>
          <a:p>
            <a:pPr>
              <a:lnSpc>
                <a:spcPct val="120000"/>
              </a:lnSpc>
              <a:buFont typeface="Wingdings" panose="05000000000000000000" pitchFamily="2" charset="2"/>
              <a:buChar char="Ø"/>
            </a:pPr>
            <a:r>
              <a:rPr lang="en-US" sz="2600" b="1" dirty="0">
                <a:solidFill>
                  <a:schemeClr val="tx1">
                    <a:lumMod val="95000"/>
                    <a:lumOff val="5000"/>
                  </a:schemeClr>
                </a:solidFill>
              </a:rPr>
              <a:t> In a ratio, the quantities which must be compared must be of the same kind, i.e. they must be expressed in the same units.</a:t>
            </a:r>
          </a:p>
          <a:p>
            <a:pPr>
              <a:lnSpc>
                <a:spcPct val="120000"/>
              </a:lnSpc>
              <a:buFont typeface="Wingdings" panose="05000000000000000000" pitchFamily="2" charset="2"/>
              <a:buChar char="Ø"/>
            </a:pPr>
            <a:r>
              <a:rPr lang="en-US" sz="2600" b="1" dirty="0">
                <a:solidFill>
                  <a:schemeClr val="tx1">
                    <a:lumMod val="95000"/>
                    <a:lumOff val="5000"/>
                  </a:schemeClr>
                </a:solidFill>
              </a:rPr>
              <a:t>The ratio of two quantities determines how many times of one quantity is contained by the other.</a:t>
            </a:r>
          </a:p>
          <a:p>
            <a:pPr>
              <a:lnSpc>
                <a:spcPct val="120000"/>
              </a:lnSpc>
              <a:buFont typeface="Wingdings" panose="05000000000000000000" pitchFamily="2" charset="2"/>
              <a:buChar char="Ø"/>
            </a:pPr>
            <a:r>
              <a:rPr lang="en-US" sz="2600" b="1" dirty="0">
                <a:solidFill>
                  <a:schemeClr val="tx1">
                    <a:lumMod val="95000"/>
                    <a:lumOff val="5000"/>
                  </a:schemeClr>
                </a:solidFill>
              </a:rPr>
              <a:t>The order of the terms in a ratio </a:t>
            </a:r>
            <a:r>
              <a:rPr lang="en-US" sz="2600" b="1" dirty="0" err="1">
                <a:solidFill>
                  <a:schemeClr val="tx1">
                    <a:lumMod val="95000"/>
                    <a:lumOff val="5000"/>
                  </a:schemeClr>
                </a:solidFill>
              </a:rPr>
              <a:t>ʻa</a:t>
            </a:r>
            <a:r>
              <a:rPr lang="en-US" sz="2600" b="1" dirty="0">
                <a:solidFill>
                  <a:schemeClr val="tx1">
                    <a:lumMod val="95000"/>
                    <a:lumOff val="5000"/>
                  </a:schemeClr>
                </a:solidFill>
              </a:rPr>
              <a:t> : </a:t>
            </a:r>
            <a:r>
              <a:rPr lang="en-US" sz="2600" b="1" dirty="0" err="1">
                <a:solidFill>
                  <a:schemeClr val="tx1">
                    <a:lumMod val="95000"/>
                    <a:lumOff val="5000"/>
                  </a:schemeClr>
                </a:solidFill>
              </a:rPr>
              <a:t>bʼ</a:t>
            </a:r>
            <a:r>
              <a:rPr lang="en-US" sz="2600" b="1" dirty="0">
                <a:solidFill>
                  <a:schemeClr val="tx1">
                    <a:lumMod val="95000"/>
                    <a:lumOff val="5000"/>
                  </a:schemeClr>
                </a:solidFill>
              </a:rPr>
              <a:t> is very important. Since 4 : 5 is different from 5 : 4.</a:t>
            </a:r>
          </a:p>
          <a:p>
            <a:pPr>
              <a:lnSpc>
                <a:spcPct val="120000"/>
              </a:lnSpc>
              <a:buFont typeface="Wingdings" panose="05000000000000000000" pitchFamily="2" charset="2"/>
              <a:buChar char="Ø"/>
            </a:pPr>
            <a:r>
              <a:rPr lang="en-US" sz="2600" b="1" dirty="0"/>
              <a:t>a</a:t>
            </a:r>
            <a:r>
              <a:rPr lang="en-US" sz="2600" b="1" baseline="30000" dirty="0"/>
              <a:t>2</a:t>
            </a:r>
            <a:r>
              <a:rPr lang="en-US" sz="2600" b="1" dirty="0"/>
              <a:t>:b</a:t>
            </a:r>
            <a:r>
              <a:rPr lang="en-US" sz="2600" b="1" baseline="30000" dirty="0"/>
              <a:t>2</a:t>
            </a:r>
            <a:r>
              <a:rPr lang="en-US" sz="2600" b="1" dirty="0"/>
              <a:t> is a duplicate ratio</a:t>
            </a:r>
          </a:p>
          <a:p>
            <a:pPr>
              <a:lnSpc>
                <a:spcPct val="120000"/>
              </a:lnSpc>
              <a:buFont typeface="Wingdings" panose="05000000000000000000" pitchFamily="2" charset="2"/>
              <a:buChar char="Ø"/>
            </a:pPr>
            <a:r>
              <a:rPr lang="en-US" sz="2600" b="1" dirty="0"/>
              <a:t>√a:√b is the sub-duplicate ratio</a:t>
            </a:r>
          </a:p>
          <a:p>
            <a:pPr>
              <a:lnSpc>
                <a:spcPct val="120000"/>
              </a:lnSpc>
              <a:buFont typeface="Wingdings" panose="05000000000000000000" pitchFamily="2" charset="2"/>
              <a:buChar char="Ø"/>
            </a:pPr>
            <a:r>
              <a:rPr lang="en-US" sz="2600" b="1" dirty="0"/>
              <a:t>a</a:t>
            </a:r>
            <a:r>
              <a:rPr lang="en-US" sz="2600" b="1" baseline="30000" dirty="0"/>
              <a:t>3</a:t>
            </a:r>
            <a:r>
              <a:rPr lang="en-US" sz="2600" b="1" dirty="0"/>
              <a:t>:b</a:t>
            </a:r>
            <a:r>
              <a:rPr lang="en-US" sz="2600" b="1" baseline="30000" dirty="0"/>
              <a:t>3</a:t>
            </a:r>
            <a:r>
              <a:rPr lang="en-US" sz="2600" b="1" dirty="0"/>
              <a:t> is a triplicate ratio</a:t>
            </a:r>
          </a:p>
          <a:p>
            <a:pPr>
              <a:buNone/>
            </a:pPr>
            <a:endParaRPr lang="en-US" sz="2600" b="1" dirty="0">
              <a:solidFill>
                <a:schemeClr val="tx1">
                  <a:lumMod val="95000"/>
                  <a:lumOff val="5000"/>
                </a:schemeClr>
              </a:solidFill>
            </a:endParaRPr>
          </a:p>
          <a:p>
            <a:pPr>
              <a:buNone/>
            </a:pPr>
            <a:endParaRPr lang="en-US" b="1" dirty="0">
              <a:solidFill>
                <a:schemeClr val="tx1">
                  <a:lumMod val="95000"/>
                  <a:lumOff val="5000"/>
                </a:schemeClr>
              </a:solidFill>
            </a:endParaRPr>
          </a:p>
        </p:txBody>
      </p:sp>
    </p:spTree>
    <p:extLst>
      <p:ext uri="{BB962C8B-B14F-4D97-AF65-F5344CB8AC3E}">
        <p14:creationId xmlns:p14="http://schemas.microsoft.com/office/powerpoint/2010/main" val="91893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b="1" dirty="0">
                <a:solidFill>
                  <a:srgbClr val="C00000"/>
                </a:solidFill>
              </a:rPr>
              <a:t>Definition of Proportion:-</a:t>
            </a:r>
          </a:p>
          <a:p>
            <a:pPr>
              <a:buFont typeface="Wingdings" panose="05000000000000000000" pitchFamily="2" charset="2"/>
              <a:buChar char="Ø"/>
            </a:pPr>
            <a:r>
              <a:rPr lang="en-US" b="1" dirty="0"/>
              <a:t>Proportion is an equation that defines that the two given ratios are equivalent to each other. In other words, the proportion states the equality of the two fractions or the ratios. In proportion, if two sets of given numbers are increasing or decreasing in the same ratio, then the ratios are said to be directly proportional to each other.</a:t>
            </a:r>
          </a:p>
          <a:p>
            <a:pPr>
              <a:buNone/>
            </a:pPr>
            <a:endParaRPr lang="en-US" b="1" dirty="0">
              <a:solidFill>
                <a:schemeClr val="tx1">
                  <a:lumMod val="95000"/>
                  <a:lumOff val="5000"/>
                </a:schemeClr>
              </a:solidFill>
            </a:endParaRP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249493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solidFill>
                  <a:srgbClr val="FF0000"/>
                </a:solidFill>
              </a:rPr>
              <a:t>Now, let us assume that</a:t>
            </a:r>
            <a:r>
              <a:rPr lang="en-US" b="1" dirty="0"/>
              <a:t>, </a:t>
            </a:r>
            <a:r>
              <a:rPr lang="en-US" dirty="0"/>
              <a:t>in proportion, the two ratios are </a:t>
            </a:r>
            <a:r>
              <a:rPr lang="en-US" b="1" dirty="0"/>
              <a:t>a:b</a:t>
            </a:r>
            <a:r>
              <a:rPr lang="en-US" dirty="0"/>
              <a:t> &amp; </a:t>
            </a:r>
            <a:r>
              <a:rPr lang="en-US" b="1" dirty="0"/>
              <a:t>c:d. </a:t>
            </a:r>
            <a:r>
              <a:rPr lang="en-US" dirty="0"/>
              <a:t>The two terms </a:t>
            </a:r>
            <a:r>
              <a:rPr lang="en-US" b="1" dirty="0"/>
              <a:t>‘b’</a:t>
            </a:r>
            <a:r>
              <a:rPr lang="en-US" dirty="0"/>
              <a:t> and </a:t>
            </a:r>
            <a:r>
              <a:rPr lang="en-US" b="1" dirty="0"/>
              <a:t>‘c’</a:t>
            </a:r>
            <a:r>
              <a:rPr lang="en-US" dirty="0"/>
              <a:t> are called </a:t>
            </a:r>
            <a:r>
              <a:rPr lang="en-US" b="1" dirty="0"/>
              <a:t>‘means or mean term,’</a:t>
            </a:r>
            <a:r>
              <a:rPr lang="en-US" dirty="0"/>
              <a:t> whereas the terms </a:t>
            </a:r>
            <a:r>
              <a:rPr lang="en-US" b="1" dirty="0"/>
              <a:t>‘a’</a:t>
            </a:r>
            <a:r>
              <a:rPr lang="en-US" dirty="0"/>
              <a:t> and </a:t>
            </a:r>
            <a:r>
              <a:rPr lang="en-US" b="1" dirty="0"/>
              <a:t>‘d’</a:t>
            </a:r>
            <a:r>
              <a:rPr lang="en-US" dirty="0"/>
              <a:t> are known as ‘</a:t>
            </a:r>
            <a:r>
              <a:rPr lang="en-US" b="1" dirty="0"/>
              <a:t>extremes or extreme terms.’</a:t>
            </a:r>
            <a:endParaRPr lang="en-US" b="1" dirty="0">
              <a:solidFill>
                <a:schemeClr val="tx1">
                  <a:lumMod val="95000"/>
                  <a:lumOff val="5000"/>
                </a:schemeClr>
              </a:solidFill>
              <a:latin typeface="Arial Black" pitchFamily="34" charset="0"/>
            </a:endParaRPr>
          </a:p>
          <a:p>
            <a:pPr>
              <a:buNone/>
            </a:pPr>
            <a:r>
              <a:rPr lang="en-US" b="1" dirty="0">
                <a:solidFill>
                  <a:schemeClr val="tx1">
                    <a:lumMod val="95000"/>
                    <a:lumOff val="5000"/>
                  </a:schemeClr>
                </a:solidFill>
                <a:latin typeface="Arial Black" pitchFamily="34" charset="0"/>
              </a:rPr>
              <a:t>a/b = c/d or  a : b :: c : d</a:t>
            </a:r>
          </a:p>
          <a:p>
            <a:pPr>
              <a:buNone/>
            </a:pPr>
            <a:r>
              <a:rPr lang="en-US" sz="2800" b="1" dirty="0">
                <a:solidFill>
                  <a:srgbClr val="FF0000"/>
                </a:solidFill>
                <a:latin typeface="Arial Black" pitchFamily="34" charset="0"/>
              </a:rPr>
              <a:t>Note:-      </a:t>
            </a:r>
            <a:r>
              <a:rPr lang="en-US" sz="2800" b="1" dirty="0">
                <a:latin typeface="Arial Black" pitchFamily="34" charset="0"/>
              </a:rPr>
              <a:t>Product of extremes = Product of means</a:t>
            </a:r>
            <a:endParaRPr lang="en-US" sz="2800" b="1" dirty="0"/>
          </a:p>
        </p:txBody>
      </p:sp>
      <p:pic>
        <p:nvPicPr>
          <p:cNvPr id="4" name="Picture 3"/>
          <p:cNvPicPr>
            <a:picLocks noChangeAspect="1"/>
          </p:cNvPicPr>
          <p:nvPr/>
        </p:nvPicPr>
        <p:blipFill>
          <a:blip r:embed="rId2"/>
          <a:stretch>
            <a:fillRect/>
          </a:stretch>
        </p:blipFill>
        <p:spPr>
          <a:xfrm>
            <a:off x="1418216" y="3775934"/>
            <a:ext cx="8608336" cy="2452743"/>
          </a:xfrm>
          <a:prstGeom prst="rect">
            <a:avLst/>
          </a:prstGeom>
        </p:spPr>
      </p:pic>
    </p:spTree>
    <p:extLst>
      <p:ext uri="{BB962C8B-B14F-4D97-AF65-F5344CB8AC3E}">
        <p14:creationId xmlns:p14="http://schemas.microsoft.com/office/powerpoint/2010/main" val="285144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b="1" dirty="0">
                <a:solidFill>
                  <a:srgbClr val="C00000"/>
                </a:solidFill>
              </a:rPr>
              <a:t>Important Properties of Proportion</a:t>
            </a:r>
          </a:p>
          <a:p>
            <a:pPr>
              <a:buFont typeface="Wingdings" panose="05000000000000000000" pitchFamily="2" charset="2"/>
              <a:buChar char="Ø"/>
            </a:pPr>
            <a:r>
              <a:rPr lang="en-US" dirty="0"/>
              <a:t>The following are the important properties of proportion:</a:t>
            </a:r>
          </a:p>
          <a:p>
            <a:pPr>
              <a:buFont typeface="Wingdings" panose="05000000000000000000" pitchFamily="2" charset="2"/>
              <a:buChar char="Ø"/>
            </a:pPr>
            <a:r>
              <a:rPr lang="en-US" dirty="0"/>
              <a:t>Addendo – If a : b = c : d, then a + c : b + d</a:t>
            </a:r>
          </a:p>
          <a:p>
            <a:pPr>
              <a:buFont typeface="Wingdings" panose="05000000000000000000" pitchFamily="2" charset="2"/>
              <a:buChar char="Ø"/>
            </a:pPr>
            <a:r>
              <a:rPr lang="en-US" dirty="0"/>
              <a:t>Subtrahendo – If a : b = c : d, then a – c : b – d</a:t>
            </a:r>
          </a:p>
          <a:p>
            <a:pPr>
              <a:buFont typeface="Wingdings" panose="05000000000000000000" pitchFamily="2" charset="2"/>
              <a:buChar char="Ø"/>
            </a:pPr>
            <a:r>
              <a:rPr lang="en-US" dirty="0"/>
              <a:t>Dividendo – If a : b = c : d, then a – b : b = c – d : d</a:t>
            </a:r>
          </a:p>
          <a:p>
            <a:pPr>
              <a:buFont typeface="Wingdings" panose="05000000000000000000" pitchFamily="2" charset="2"/>
              <a:buChar char="Ø"/>
            </a:pPr>
            <a:r>
              <a:rPr lang="en-US" dirty="0"/>
              <a:t>Componendo – If a : b = c : d, then a + b : b = c+d : d</a:t>
            </a:r>
          </a:p>
          <a:p>
            <a:pPr>
              <a:buFont typeface="Wingdings" panose="05000000000000000000" pitchFamily="2" charset="2"/>
              <a:buChar char="Ø"/>
            </a:pPr>
            <a:r>
              <a:rPr lang="en-US" dirty="0"/>
              <a:t>Alternendo – If a : b = c : d, then a : c = b: d</a:t>
            </a:r>
          </a:p>
          <a:p>
            <a:pPr>
              <a:buFont typeface="Wingdings" panose="05000000000000000000" pitchFamily="2" charset="2"/>
              <a:buChar char="Ø"/>
            </a:pPr>
            <a:r>
              <a:rPr lang="en-US" dirty="0"/>
              <a:t>Invertendo – If a : b = c : d, then b : a = d : c</a:t>
            </a:r>
          </a:p>
          <a:p>
            <a:pPr>
              <a:buFont typeface="Wingdings" panose="05000000000000000000" pitchFamily="2" charset="2"/>
              <a:buChar char="Ø"/>
            </a:pPr>
            <a:r>
              <a:rPr lang="en-US" dirty="0"/>
              <a:t>Componendo and dividendo – If a : b = c : d, then a + b : a – b = c + d : c – d</a:t>
            </a:r>
          </a:p>
          <a:p>
            <a:pPr>
              <a:buNone/>
            </a:pPr>
            <a:endParaRPr lang="en-US" b="1" dirty="0">
              <a:solidFill>
                <a:schemeClr val="tx1">
                  <a:lumMod val="95000"/>
                  <a:lumOff val="5000"/>
                </a:schemeClr>
              </a:solidFill>
              <a:latin typeface="Arial Black" pitchFamily="34" charset="0"/>
            </a:endParaRPr>
          </a:p>
        </p:txBody>
      </p:sp>
    </p:spTree>
    <p:extLst>
      <p:ext uri="{BB962C8B-B14F-4D97-AF65-F5344CB8AC3E}">
        <p14:creationId xmlns:p14="http://schemas.microsoft.com/office/powerpoint/2010/main" val="1623672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marL="0" indent="0">
              <a:buNone/>
            </a:pPr>
            <a:r>
              <a:rPr lang="en-US" dirty="0">
                <a:solidFill>
                  <a:srgbClr val="C00000"/>
                </a:solidFill>
              </a:rPr>
              <a:t>Difference Between Ratio and Proportion</a:t>
            </a:r>
          </a:p>
          <a:p>
            <a:r>
              <a:rPr lang="en-US" dirty="0"/>
              <a:t>To understand the concept of ratio and proportion, go through the difference between ratio and proportion given here.</a:t>
            </a:r>
          </a:p>
          <a:p>
            <a:pPr>
              <a:buNone/>
            </a:pPr>
            <a:endParaRPr lang="en-US" b="1" dirty="0">
              <a:solidFill>
                <a:schemeClr val="tx1">
                  <a:lumMod val="95000"/>
                  <a:lumOff val="5000"/>
                </a:schemeClr>
              </a:solidFill>
              <a:latin typeface="Arial Black" pitchFamily="34" charset="0"/>
            </a:endParaRPr>
          </a:p>
          <a:p>
            <a:pPr>
              <a:buNone/>
            </a:pPr>
            <a:r>
              <a:rPr lang="en-US" b="1" u="sng" dirty="0">
                <a:solidFill>
                  <a:srgbClr val="FF0000"/>
                </a:solidFill>
                <a:latin typeface="Arial Black" pitchFamily="34" charset="0"/>
              </a:rPr>
              <a:t> </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3550307219"/>
              </p:ext>
            </p:extLst>
          </p:nvPr>
        </p:nvGraphicFramePr>
        <p:xfrm>
          <a:off x="548638" y="2861534"/>
          <a:ext cx="11389363" cy="3302598"/>
        </p:xfrm>
        <a:graphic>
          <a:graphicData uri="http://schemas.openxmlformats.org/drawingml/2006/table">
            <a:tbl>
              <a:tblPr>
                <a:tableStyleId>{D113A9D2-9D6B-4929-AA2D-F23B5EE8CBE7}</a:tableStyleId>
              </a:tblPr>
              <a:tblGrid>
                <a:gridCol w="778355">
                  <a:extLst>
                    <a:ext uri="{9D8B030D-6E8A-4147-A177-3AD203B41FA5}">
                      <a16:colId xmlns:a16="http://schemas.microsoft.com/office/drawing/2014/main" val="2533985012"/>
                    </a:ext>
                  </a:extLst>
                </a:gridCol>
                <a:gridCol w="5095322">
                  <a:extLst>
                    <a:ext uri="{9D8B030D-6E8A-4147-A177-3AD203B41FA5}">
                      <a16:colId xmlns:a16="http://schemas.microsoft.com/office/drawing/2014/main" val="1837723396"/>
                    </a:ext>
                  </a:extLst>
                </a:gridCol>
                <a:gridCol w="5515686">
                  <a:extLst>
                    <a:ext uri="{9D8B030D-6E8A-4147-A177-3AD203B41FA5}">
                      <a16:colId xmlns:a16="http://schemas.microsoft.com/office/drawing/2014/main" val="3809063058"/>
                    </a:ext>
                  </a:extLst>
                </a:gridCol>
              </a:tblGrid>
              <a:tr h="344303">
                <a:tc>
                  <a:txBody>
                    <a:bodyPr/>
                    <a:lstStyle/>
                    <a:p>
                      <a:r>
                        <a:rPr lang="en-IN" sz="1800" dirty="0" err="1">
                          <a:effectLst/>
                        </a:rPr>
                        <a:t>S.No</a:t>
                      </a:r>
                      <a:endParaRPr lang="en-IN" sz="1800" dirty="0">
                        <a:effectLst/>
                      </a:endParaRPr>
                    </a:p>
                  </a:txBody>
                  <a:tcPr marL="28275" marR="28275" marT="20564" marB="20564" anchor="ctr"/>
                </a:tc>
                <a:tc>
                  <a:txBody>
                    <a:bodyPr/>
                    <a:lstStyle/>
                    <a:p>
                      <a:r>
                        <a:rPr lang="en-IN" sz="1800">
                          <a:effectLst/>
                        </a:rPr>
                        <a:t>Ratio</a:t>
                      </a:r>
                    </a:p>
                  </a:txBody>
                  <a:tcPr marL="28275" marR="28275" marT="20564" marB="20564" anchor="ctr"/>
                </a:tc>
                <a:tc>
                  <a:txBody>
                    <a:bodyPr/>
                    <a:lstStyle/>
                    <a:p>
                      <a:r>
                        <a:rPr lang="en-IN" sz="1800">
                          <a:effectLst/>
                        </a:rPr>
                        <a:t>Proportion</a:t>
                      </a:r>
                    </a:p>
                  </a:txBody>
                  <a:tcPr marL="28275" marR="28275" marT="20564" marB="20564" anchor="ctr"/>
                </a:tc>
                <a:extLst>
                  <a:ext uri="{0D108BD9-81ED-4DB2-BD59-A6C34878D82A}">
                    <a16:rowId xmlns:a16="http://schemas.microsoft.com/office/drawing/2014/main" val="2300853098"/>
                  </a:ext>
                </a:extLst>
              </a:tr>
              <a:tr h="871330">
                <a:tc>
                  <a:txBody>
                    <a:bodyPr/>
                    <a:lstStyle/>
                    <a:p>
                      <a:r>
                        <a:rPr lang="en-IN" sz="1800">
                          <a:effectLst/>
                        </a:rPr>
                        <a:t>1</a:t>
                      </a:r>
                    </a:p>
                  </a:txBody>
                  <a:tcPr marL="28275" marR="28275" marT="20564" marB="20564" anchor="ctr"/>
                </a:tc>
                <a:tc>
                  <a:txBody>
                    <a:bodyPr/>
                    <a:lstStyle/>
                    <a:p>
                      <a:r>
                        <a:rPr lang="en-US" sz="1800" dirty="0">
                          <a:effectLst/>
                        </a:rPr>
                        <a:t>The ratio is used to compare the size of two things with the same unit</a:t>
                      </a:r>
                    </a:p>
                  </a:txBody>
                  <a:tcPr marL="28275" marR="28275" marT="20564" marB="20564" anchor="ctr"/>
                </a:tc>
                <a:tc>
                  <a:txBody>
                    <a:bodyPr/>
                    <a:lstStyle/>
                    <a:p>
                      <a:r>
                        <a:rPr lang="en-US" sz="1800">
                          <a:effectLst/>
                        </a:rPr>
                        <a:t>The proportion is used to express the relation of two ratios</a:t>
                      </a:r>
                    </a:p>
                  </a:txBody>
                  <a:tcPr marL="28275" marR="28275" marT="20564" marB="20564" anchor="ctr"/>
                </a:tc>
                <a:extLst>
                  <a:ext uri="{0D108BD9-81ED-4DB2-BD59-A6C34878D82A}">
                    <a16:rowId xmlns:a16="http://schemas.microsoft.com/office/drawing/2014/main" val="3231313229"/>
                  </a:ext>
                </a:extLst>
              </a:tr>
              <a:tr h="964847">
                <a:tc>
                  <a:txBody>
                    <a:bodyPr/>
                    <a:lstStyle/>
                    <a:p>
                      <a:r>
                        <a:rPr lang="en-IN" sz="1800" dirty="0">
                          <a:effectLst/>
                        </a:rPr>
                        <a:t>2</a:t>
                      </a:r>
                    </a:p>
                  </a:txBody>
                  <a:tcPr marL="28275" marR="28275" marT="20564" marB="20564" anchor="ctr"/>
                </a:tc>
                <a:tc>
                  <a:txBody>
                    <a:bodyPr/>
                    <a:lstStyle/>
                    <a:p>
                      <a:r>
                        <a:rPr lang="en-US" sz="1800" dirty="0">
                          <a:effectLst/>
                        </a:rPr>
                        <a:t>It is expressed using a colon (:), slash (/)</a:t>
                      </a:r>
                    </a:p>
                  </a:txBody>
                  <a:tcPr marL="28275" marR="28275" marT="20564" marB="20564" anchor="ctr"/>
                </a:tc>
                <a:tc>
                  <a:txBody>
                    <a:bodyPr/>
                    <a:lstStyle/>
                    <a:p>
                      <a:r>
                        <a:rPr lang="en-US" sz="1800">
                          <a:effectLst/>
                        </a:rPr>
                        <a:t>It is expressed using the double colon (::) or equal to the symbol (=)</a:t>
                      </a:r>
                    </a:p>
                  </a:txBody>
                  <a:tcPr marL="28275" marR="28275" marT="20564" marB="20564" anchor="ctr"/>
                </a:tc>
                <a:extLst>
                  <a:ext uri="{0D108BD9-81ED-4DB2-BD59-A6C34878D82A}">
                    <a16:rowId xmlns:a16="http://schemas.microsoft.com/office/drawing/2014/main" val="4216293094"/>
                  </a:ext>
                </a:extLst>
              </a:tr>
              <a:tr h="344303">
                <a:tc>
                  <a:txBody>
                    <a:bodyPr/>
                    <a:lstStyle/>
                    <a:p>
                      <a:r>
                        <a:rPr lang="en-IN" sz="1800">
                          <a:effectLst/>
                        </a:rPr>
                        <a:t>3</a:t>
                      </a:r>
                    </a:p>
                  </a:txBody>
                  <a:tcPr marL="28275" marR="28275" marT="20564" marB="20564" anchor="ctr"/>
                </a:tc>
                <a:tc>
                  <a:txBody>
                    <a:bodyPr/>
                    <a:lstStyle/>
                    <a:p>
                      <a:r>
                        <a:rPr lang="en-IN" sz="1800">
                          <a:effectLst/>
                        </a:rPr>
                        <a:t>It is an expression</a:t>
                      </a:r>
                    </a:p>
                  </a:txBody>
                  <a:tcPr marL="28275" marR="28275" marT="20564" marB="20564" anchor="ctr"/>
                </a:tc>
                <a:tc>
                  <a:txBody>
                    <a:bodyPr/>
                    <a:lstStyle/>
                    <a:p>
                      <a:r>
                        <a:rPr lang="en-IN" sz="1800">
                          <a:effectLst/>
                        </a:rPr>
                        <a:t>It is an equation</a:t>
                      </a:r>
                    </a:p>
                  </a:txBody>
                  <a:tcPr marL="28275" marR="28275" marT="20564" marB="20564" anchor="ctr"/>
                </a:tc>
                <a:extLst>
                  <a:ext uri="{0D108BD9-81ED-4DB2-BD59-A6C34878D82A}">
                    <a16:rowId xmlns:a16="http://schemas.microsoft.com/office/drawing/2014/main" val="630535827"/>
                  </a:ext>
                </a:extLst>
              </a:tr>
              <a:tr h="777815">
                <a:tc>
                  <a:txBody>
                    <a:bodyPr/>
                    <a:lstStyle/>
                    <a:p>
                      <a:r>
                        <a:rPr lang="en-IN" sz="1800">
                          <a:effectLst/>
                        </a:rPr>
                        <a:t>4</a:t>
                      </a:r>
                    </a:p>
                  </a:txBody>
                  <a:tcPr marL="28275" marR="28275" marT="20564" marB="20564" anchor="ctr"/>
                </a:tc>
                <a:tc>
                  <a:txBody>
                    <a:bodyPr/>
                    <a:lstStyle/>
                    <a:p>
                      <a:r>
                        <a:rPr lang="en-US" sz="1800">
                          <a:effectLst/>
                        </a:rPr>
                        <a:t>Keyword to identify ratio in a problem is “to every”</a:t>
                      </a:r>
                    </a:p>
                  </a:txBody>
                  <a:tcPr marL="28275" marR="28275" marT="20564" marB="20564" anchor="ctr"/>
                </a:tc>
                <a:tc>
                  <a:txBody>
                    <a:bodyPr/>
                    <a:lstStyle/>
                    <a:p>
                      <a:r>
                        <a:rPr lang="en-US" sz="1800" dirty="0">
                          <a:effectLst/>
                        </a:rPr>
                        <a:t>Keyword to identify proportion in a problem is “out of”</a:t>
                      </a:r>
                    </a:p>
                  </a:txBody>
                  <a:tcPr marL="28275" marR="28275" marT="20564" marB="20564" anchor="ctr"/>
                </a:tc>
                <a:extLst>
                  <a:ext uri="{0D108BD9-81ED-4DB2-BD59-A6C34878D82A}">
                    <a16:rowId xmlns:a16="http://schemas.microsoft.com/office/drawing/2014/main" val="3572916940"/>
                  </a:ext>
                </a:extLst>
              </a:tr>
            </a:tbl>
          </a:graphicData>
        </a:graphic>
      </p:graphicFrame>
    </p:spTree>
    <p:extLst>
      <p:ext uri="{BB962C8B-B14F-4D97-AF65-F5344CB8AC3E}">
        <p14:creationId xmlns:p14="http://schemas.microsoft.com/office/powerpoint/2010/main" val="2601074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u="sng" dirty="0">
                <a:solidFill>
                  <a:srgbClr val="FF0000"/>
                </a:solidFill>
              </a:rPr>
              <a:t>Dividing a number in the given Ratio:-</a:t>
            </a:r>
          </a:p>
          <a:p>
            <a:pPr>
              <a:buNone/>
            </a:pPr>
            <a:r>
              <a:rPr lang="en-US" b="1" dirty="0">
                <a:solidFill>
                  <a:schemeClr val="tx1">
                    <a:lumMod val="95000"/>
                    <a:lumOff val="5000"/>
                  </a:schemeClr>
                </a:solidFill>
              </a:rPr>
              <a:t>Let ‘A’ be the number. The ratio given is a1 : a2. Here ‘A’ is to be divided in the ratio a1 : a2. It implies that A is divided in two parts such that value of first part : value of second part = a1 : a2.</a:t>
            </a:r>
          </a:p>
          <a:p>
            <a:pPr>
              <a:buNone/>
            </a:pPr>
            <a:r>
              <a:rPr lang="en-US" b="1" dirty="0">
                <a:solidFill>
                  <a:schemeClr val="tx1">
                    <a:lumMod val="95000"/>
                    <a:lumOff val="5000"/>
                  </a:schemeClr>
                </a:solidFill>
              </a:rPr>
              <a:t>Therefore, first part  =	a1/(a1 +a2)</a:t>
            </a:r>
          </a:p>
          <a:p>
            <a:pPr>
              <a:buNone/>
            </a:pPr>
            <a:r>
              <a:rPr lang="en-US" b="1" dirty="0">
                <a:solidFill>
                  <a:schemeClr val="tx1">
                    <a:lumMod val="95000"/>
                    <a:lumOff val="5000"/>
                  </a:schemeClr>
                </a:solidFill>
              </a:rPr>
              <a:t>		  second part  = 	a2/(a1 +a2)</a:t>
            </a:r>
          </a:p>
          <a:p>
            <a:pPr>
              <a:buNone/>
            </a:pPr>
            <a:r>
              <a:rPr lang="en-US" b="1" dirty="0">
                <a:solidFill>
                  <a:srgbClr val="FF0000"/>
                </a:solidFill>
              </a:rPr>
              <a:t>Note:</a:t>
            </a:r>
          </a:p>
          <a:p>
            <a:pPr>
              <a:buNone/>
            </a:pPr>
            <a:r>
              <a:rPr lang="en-US" b="1" dirty="0">
                <a:solidFill>
                  <a:schemeClr val="tx1">
                    <a:lumMod val="95000"/>
                    <a:lumOff val="5000"/>
                  </a:schemeClr>
                </a:solidFill>
              </a:rPr>
              <a:t>These relations are also true when we divide a number into more than two ratios (i.e. into more than two parts).</a:t>
            </a:r>
            <a:endParaRPr lang="en-US" b="1" dirty="0">
              <a:solidFill>
                <a:schemeClr val="tx1">
                  <a:lumMod val="95000"/>
                  <a:lumOff val="5000"/>
                </a:schemeClr>
              </a:solidFill>
              <a:latin typeface="Arial Black" pitchFamily="34" charset="0"/>
            </a:endParaRPr>
          </a:p>
          <a:p>
            <a:pPr>
              <a:buNone/>
            </a:pPr>
            <a:r>
              <a:rPr lang="en-US" b="1" dirty="0">
                <a:latin typeface="Arial Black" pitchFamily="34" charset="0"/>
              </a:rPr>
              <a:t> </a:t>
            </a:r>
            <a:endParaRPr lang="en-US" b="1" dirty="0"/>
          </a:p>
        </p:txBody>
      </p:sp>
    </p:spTree>
    <p:extLst>
      <p:ext uri="{BB962C8B-B14F-4D97-AF65-F5344CB8AC3E}">
        <p14:creationId xmlns:p14="http://schemas.microsoft.com/office/powerpoint/2010/main" val="2115115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 Find a fourth proportional to the numbers 6, 8, 9. </a:t>
            </a:r>
          </a:p>
          <a:p>
            <a:pPr>
              <a:buNone/>
            </a:pPr>
            <a:endParaRPr lang="en-US" b="1" dirty="0"/>
          </a:p>
          <a:p>
            <a:pPr marL="457200" indent="-457200">
              <a:buAutoNum type="arabicParenBoth"/>
            </a:pPr>
            <a:r>
              <a:rPr lang="en-US" b="1" dirty="0"/>
              <a:t>12 		</a:t>
            </a:r>
          </a:p>
          <a:p>
            <a:pPr marL="0" indent="0">
              <a:buNone/>
            </a:pPr>
            <a:r>
              <a:rPr lang="en-US" b="1" dirty="0"/>
              <a:t>(2) 7 		</a:t>
            </a:r>
          </a:p>
          <a:p>
            <a:pPr marL="0" indent="0">
              <a:buNone/>
            </a:pPr>
            <a:r>
              <a:rPr lang="en-US" b="1" dirty="0"/>
              <a:t>(3) 5 		</a:t>
            </a:r>
          </a:p>
          <a:p>
            <a:pPr marL="0" indent="0">
              <a:buNone/>
            </a:pPr>
            <a:r>
              <a:rPr lang="en-US" b="1" dirty="0"/>
              <a:t>(4) 14 		</a:t>
            </a:r>
          </a:p>
          <a:p>
            <a:pPr marL="0" indent="0">
              <a:buNone/>
            </a:pPr>
            <a:r>
              <a:rPr lang="en-US" b="1" dirty="0"/>
              <a:t>(5) None of these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 Find a fourth proportional to the numbers 6, 8, 9. </a:t>
            </a:r>
          </a:p>
          <a:p>
            <a:pPr>
              <a:buNone/>
            </a:pPr>
            <a:endParaRPr lang="en-US" b="1" dirty="0"/>
          </a:p>
          <a:p>
            <a:pPr marL="457200" indent="-457200">
              <a:buAutoNum type="arabicParenBoth"/>
            </a:pPr>
            <a:r>
              <a:rPr lang="en-US" b="1" dirty="0">
                <a:solidFill>
                  <a:srgbClr val="FF0000"/>
                </a:solidFill>
              </a:rPr>
              <a:t>12</a:t>
            </a:r>
            <a:r>
              <a:rPr lang="en-US" b="1" dirty="0"/>
              <a:t> 		</a:t>
            </a:r>
          </a:p>
          <a:p>
            <a:pPr marL="0" indent="0">
              <a:buNone/>
            </a:pPr>
            <a:r>
              <a:rPr lang="en-US" b="1" dirty="0"/>
              <a:t>(2) 7 		</a:t>
            </a:r>
          </a:p>
          <a:p>
            <a:pPr marL="0" indent="0">
              <a:buNone/>
            </a:pPr>
            <a:r>
              <a:rPr lang="en-US" b="1" dirty="0"/>
              <a:t>(3) 5 		</a:t>
            </a:r>
          </a:p>
          <a:p>
            <a:pPr marL="0" indent="0">
              <a:buNone/>
            </a:pPr>
            <a:r>
              <a:rPr lang="en-US" b="1" dirty="0"/>
              <a:t>(4) 14 		</a:t>
            </a:r>
          </a:p>
          <a:p>
            <a:pPr marL="0" indent="0">
              <a:buNone/>
            </a:pPr>
            <a:r>
              <a:rPr lang="en-US" b="1" dirty="0"/>
              <a:t>(5) None of these</a:t>
            </a:r>
          </a:p>
        </p:txBody>
      </p:sp>
    </p:spTree>
    <p:extLst>
      <p:ext uri="{BB962C8B-B14F-4D97-AF65-F5344CB8AC3E}">
        <p14:creationId xmlns:p14="http://schemas.microsoft.com/office/powerpoint/2010/main" val="1510903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 Find a third proportional to the numbers 3 and 6. </a:t>
            </a:r>
          </a:p>
          <a:p>
            <a:pPr>
              <a:buNone/>
            </a:pPr>
            <a:endParaRPr lang="en-US" b="1" dirty="0"/>
          </a:p>
          <a:p>
            <a:pPr marL="457200" indent="-457200">
              <a:buAutoNum type="arabicParenBoth"/>
            </a:pPr>
            <a:r>
              <a:rPr lang="en-US" b="1" dirty="0"/>
              <a:t>21 		</a:t>
            </a:r>
          </a:p>
          <a:p>
            <a:pPr marL="0" indent="0">
              <a:buNone/>
            </a:pPr>
            <a:r>
              <a:rPr lang="en-US" b="1" dirty="0"/>
              <a:t>(2) 1.5 	</a:t>
            </a:r>
          </a:p>
          <a:p>
            <a:pPr marL="0" indent="0">
              <a:buNone/>
            </a:pPr>
            <a:r>
              <a:rPr lang="en-US" b="1" dirty="0"/>
              <a:t>(3) 18 		</a:t>
            </a:r>
          </a:p>
          <a:p>
            <a:pPr marL="0" indent="0">
              <a:buNone/>
            </a:pPr>
            <a:r>
              <a:rPr lang="en-US" b="1" dirty="0"/>
              <a:t>(4) 12 		</a:t>
            </a:r>
          </a:p>
          <a:p>
            <a:pPr marL="0" indent="0">
              <a:buNone/>
            </a:pPr>
            <a:r>
              <a:rPr lang="en-US" b="1" dirty="0"/>
              <a:t>(5) None of these</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 Find a third proportional to the numbers 3 and 6. </a:t>
            </a:r>
          </a:p>
          <a:p>
            <a:pPr>
              <a:buNone/>
            </a:pPr>
            <a:endParaRPr lang="en-US" b="1" dirty="0"/>
          </a:p>
          <a:p>
            <a:pPr marL="457200" indent="-457200">
              <a:buAutoNum type="arabicParenBoth"/>
            </a:pPr>
            <a:r>
              <a:rPr lang="en-US" b="1" dirty="0"/>
              <a:t>21 		</a:t>
            </a:r>
          </a:p>
          <a:p>
            <a:pPr marL="0" indent="0">
              <a:buNone/>
            </a:pPr>
            <a:r>
              <a:rPr lang="en-US" b="1" dirty="0"/>
              <a:t>(2) 1.5 	</a:t>
            </a:r>
          </a:p>
          <a:p>
            <a:pPr marL="0" indent="0">
              <a:buNone/>
            </a:pPr>
            <a:r>
              <a:rPr lang="en-US" b="1" dirty="0"/>
              <a:t>(3) 18 		</a:t>
            </a:r>
          </a:p>
          <a:p>
            <a:pPr marL="0" indent="0">
              <a:buNone/>
            </a:pPr>
            <a:r>
              <a:rPr lang="en-US" b="1" dirty="0">
                <a:solidFill>
                  <a:srgbClr val="FF0000"/>
                </a:solidFill>
              </a:rPr>
              <a:t>(4) 12 </a:t>
            </a:r>
            <a:r>
              <a:rPr lang="en-US" b="1" dirty="0"/>
              <a:t>		</a:t>
            </a:r>
          </a:p>
          <a:p>
            <a:pPr marL="0" indent="0">
              <a:buNone/>
            </a:pPr>
            <a:r>
              <a:rPr lang="en-US" b="1" dirty="0"/>
              <a:t>(5) None of these</a:t>
            </a:r>
          </a:p>
          <a:p>
            <a:pPr>
              <a:buNone/>
            </a:pPr>
            <a:endParaRPr lang="en-US" dirty="0"/>
          </a:p>
        </p:txBody>
      </p:sp>
    </p:spTree>
    <p:extLst>
      <p:ext uri="{BB962C8B-B14F-4D97-AF65-F5344CB8AC3E}">
        <p14:creationId xmlns:p14="http://schemas.microsoft.com/office/powerpoint/2010/main" val="936903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3. Two numbers are in the ratio of 9 : 11. If sum of these two numbers is 660, find the difference between the numbers. </a:t>
            </a:r>
          </a:p>
          <a:p>
            <a:pPr>
              <a:buNone/>
            </a:pPr>
            <a:endParaRPr lang="en-US" b="1" dirty="0"/>
          </a:p>
          <a:p>
            <a:pPr marL="457200" indent="-457200">
              <a:buAutoNum type="arabicParenBoth"/>
            </a:pPr>
            <a:r>
              <a:rPr lang="en-US" b="1" dirty="0"/>
              <a:t>66 		</a:t>
            </a:r>
          </a:p>
          <a:p>
            <a:pPr marL="0" indent="0">
              <a:buNone/>
            </a:pPr>
            <a:r>
              <a:rPr lang="en-US" b="1" dirty="0"/>
              <a:t>(2) 56 		</a:t>
            </a:r>
          </a:p>
          <a:p>
            <a:pPr marL="0" indent="0">
              <a:buNone/>
            </a:pPr>
            <a:r>
              <a:rPr lang="en-US" b="1" dirty="0"/>
              <a:t>(3) 46 		</a:t>
            </a:r>
          </a:p>
          <a:p>
            <a:pPr marL="0" indent="0">
              <a:buNone/>
            </a:pPr>
            <a:r>
              <a:rPr lang="en-US" b="1" dirty="0"/>
              <a:t>(4) 76 		</a:t>
            </a:r>
          </a:p>
          <a:p>
            <a:pPr marL="0" indent="0">
              <a:buNone/>
            </a:pPr>
            <a:r>
              <a:rPr lang="en-US" b="1" dirty="0"/>
              <a:t>(5) None of these</a:t>
            </a:r>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3. Two numbers are in the ratio of 9 : 11. If sum of these two numbers is 660, find the difference between the numbers. </a:t>
            </a:r>
          </a:p>
          <a:p>
            <a:pPr>
              <a:buNone/>
            </a:pPr>
            <a:endParaRPr lang="en-US" b="1" dirty="0"/>
          </a:p>
          <a:p>
            <a:pPr marL="457200" indent="-457200">
              <a:buAutoNum type="arabicParenBoth"/>
            </a:pPr>
            <a:r>
              <a:rPr lang="en-US" b="1" dirty="0">
                <a:solidFill>
                  <a:srgbClr val="FF0000"/>
                </a:solidFill>
              </a:rPr>
              <a:t>66</a:t>
            </a:r>
            <a:r>
              <a:rPr lang="en-US" b="1" dirty="0"/>
              <a:t> 		</a:t>
            </a:r>
          </a:p>
          <a:p>
            <a:pPr marL="0" indent="0">
              <a:buNone/>
            </a:pPr>
            <a:r>
              <a:rPr lang="en-US" b="1" dirty="0"/>
              <a:t>(2) 56 		</a:t>
            </a:r>
          </a:p>
          <a:p>
            <a:pPr marL="0" indent="0">
              <a:buNone/>
            </a:pPr>
            <a:r>
              <a:rPr lang="en-US" b="1" dirty="0"/>
              <a:t>(3) 46 		</a:t>
            </a:r>
          </a:p>
          <a:p>
            <a:pPr marL="0" indent="0">
              <a:buNone/>
            </a:pPr>
            <a:r>
              <a:rPr lang="en-US" b="1" dirty="0"/>
              <a:t>(4) 76 		</a:t>
            </a:r>
          </a:p>
          <a:p>
            <a:pPr marL="0" indent="0">
              <a:buNone/>
            </a:pPr>
            <a:r>
              <a:rPr lang="en-US" b="1" dirty="0"/>
              <a:t>(5) None of these</a:t>
            </a:r>
            <a:endParaRPr lang="en-US" dirty="0"/>
          </a:p>
          <a:p>
            <a:pPr>
              <a:buNone/>
            </a:pPr>
            <a:endParaRPr lang="en-US" dirty="0"/>
          </a:p>
        </p:txBody>
      </p:sp>
    </p:spTree>
    <p:extLst>
      <p:ext uri="{BB962C8B-B14F-4D97-AF65-F5344CB8AC3E}">
        <p14:creationId xmlns:p14="http://schemas.microsoft.com/office/powerpoint/2010/main" val="14887799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4. A bag contains rupee, 50-paise and 25-paise coins in the ratio 5 : 7 : 9. If the total amount in the bag is 430, find the number of coins of each kind. </a:t>
            </a:r>
          </a:p>
          <a:p>
            <a:pPr marL="0" indent="0">
              <a:buNone/>
            </a:pPr>
            <a:endParaRPr lang="en-US" b="1" dirty="0"/>
          </a:p>
          <a:p>
            <a:pPr marL="457200" indent="-457200">
              <a:buAutoNum type="arabicParenBoth"/>
            </a:pPr>
            <a:r>
              <a:rPr lang="en-US" b="1" dirty="0"/>
              <a:t>200, 280, 360 		</a:t>
            </a:r>
          </a:p>
          <a:p>
            <a:pPr marL="0" indent="0">
              <a:buNone/>
            </a:pPr>
            <a:r>
              <a:rPr lang="en-US" b="1" dirty="0"/>
              <a:t>(2) 280, 200, 360 		</a:t>
            </a:r>
          </a:p>
          <a:p>
            <a:pPr marL="0" indent="0">
              <a:buNone/>
            </a:pPr>
            <a:r>
              <a:rPr lang="en-US" b="1" dirty="0"/>
              <a:t>(3) 360, 280, 200 </a:t>
            </a:r>
          </a:p>
          <a:p>
            <a:pPr marL="457200" indent="-457200">
              <a:buNone/>
            </a:pPr>
            <a:r>
              <a:rPr lang="en-US" b="1" dirty="0"/>
              <a:t>(4) 360, 200, 280 		</a:t>
            </a:r>
          </a:p>
          <a:p>
            <a:pPr marL="457200" indent="-457200">
              <a:buNone/>
            </a:pPr>
            <a:r>
              <a:rPr lang="en-US" b="1" dirty="0"/>
              <a:t>(5) None of these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4. A bag contains rupee, 50-paise and 25-paise coins in the ratio 5 : 7 : 9. If the total amount in the bag is 430, find the number of coins of each kind. </a:t>
            </a:r>
          </a:p>
          <a:p>
            <a:pPr marL="0" indent="0">
              <a:buNone/>
            </a:pPr>
            <a:endParaRPr lang="en-US" b="1" dirty="0"/>
          </a:p>
          <a:p>
            <a:pPr marL="457200" indent="-457200">
              <a:buAutoNum type="arabicParenBoth"/>
            </a:pPr>
            <a:r>
              <a:rPr lang="en-US" b="1" dirty="0">
                <a:solidFill>
                  <a:srgbClr val="FF0000"/>
                </a:solidFill>
              </a:rPr>
              <a:t>200, 280, 360 </a:t>
            </a:r>
            <a:r>
              <a:rPr lang="en-US" b="1" dirty="0"/>
              <a:t>		</a:t>
            </a:r>
          </a:p>
          <a:p>
            <a:pPr marL="0" indent="0">
              <a:buNone/>
            </a:pPr>
            <a:r>
              <a:rPr lang="en-US" b="1" dirty="0"/>
              <a:t>(2) 280, 200, 360 		</a:t>
            </a:r>
          </a:p>
          <a:p>
            <a:pPr marL="0" indent="0">
              <a:buNone/>
            </a:pPr>
            <a:r>
              <a:rPr lang="en-US" b="1" dirty="0"/>
              <a:t>(3) 360, 280, 200 </a:t>
            </a:r>
          </a:p>
          <a:p>
            <a:pPr marL="457200" indent="-457200">
              <a:buNone/>
            </a:pPr>
            <a:r>
              <a:rPr lang="en-US" b="1" dirty="0"/>
              <a:t>(4) 360, 200, 280 		</a:t>
            </a:r>
          </a:p>
          <a:p>
            <a:pPr marL="457200" indent="-457200">
              <a:buNone/>
            </a:pPr>
            <a:r>
              <a:rPr lang="en-US" b="1" dirty="0"/>
              <a:t>(5) None of these</a:t>
            </a:r>
            <a:endParaRPr lang="en-US" dirty="0"/>
          </a:p>
        </p:txBody>
      </p:sp>
    </p:spTree>
    <p:extLst>
      <p:ext uri="{BB962C8B-B14F-4D97-AF65-F5344CB8AC3E}">
        <p14:creationId xmlns:p14="http://schemas.microsoft.com/office/powerpoint/2010/main" val="1113875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5. A bag contains an equal number of 50-paise, 25-paise, 20 paise and 5-paise coins, respectively. If the total value is 40, how many coins of each type are there? </a:t>
            </a:r>
          </a:p>
          <a:p>
            <a:pPr>
              <a:buNone/>
            </a:pPr>
            <a:endParaRPr lang="en-US" b="1" dirty="0"/>
          </a:p>
          <a:p>
            <a:pPr marL="457200" indent="-457200">
              <a:buAutoNum type="arabicParenBoth"/>
            </a:pPr>
            <a:r>
              <a:rPr lang="en-US" b="1" dirty="0"/>
              <a:t>40 		</a:t>
            </a:r>
          </a:p>
          <a:p>
            <a:pPr marL="0" indent="0">
              <a:buNone/>
            </a:pPr>
            <a:r>
              <a:rPr lang="en-US" b="1" dirty="0"/>
              <a:t>(2) 25 		</a:t>
            </a:r>
          </a:p>
          <a:p>
            <a:pPr marL="0" indent="0">
              <a:buNone/>
            </a:pPr>
            <a:r>
              <a:rPr lang="en-US" b="1" dirty="0"/>
              <a:t>(3) 30 		</a:t>
            </a:r>
          </a:p>
          <a:p>
            <a:pPr marL="0" indent="0">
              <a:buNone/>
            </a:pPr>
            <a:r>
              <a:rPr lang="en-US" b="1" dirty="0"/>
              <a:t>(4) 20 		</a:t>
            </a:r>
          </a:p>
          <a:p>
            <a:pPr marL="0" indent="0">
              <a:buNone/>
            </a:pPr>
            <a:r>
              <a:rPr lang="en-US" b="1" dirty="0"/>
              <a:t>(5) None of these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5. A bag contains an equal number of 50-paise, 25-paise, 20 paise and 5-paise coins, respectively. If the total value is 40, how many coins of each type are there? </a:t>
            </a:r>
          </a:p>
          <a:p>
            <a:pPr>
              <a:buNone/>
            </a:pPr>
            <a:endParaRPr lang="en-US" b="1" dirty="0"/>
          </a:p>
          <a:p>
            <a:pPr marL="457200" indent="-457200">
              <a:buAutoNum type="arabicParenBoth"/>
            </a:pPr>
            <a:r>
              <a:rPr lang="en-US" b="1" dirty="0">
                <a:solidFill>
                  <a:srgbClr val="FF0000"/>
                </a:solidFill>
              </a:rPr>
              <a:t>40</a:t>
            </a:r>
            <a:r>
              <a:rPr lang="en-US" b="1" dirty="0"/>
              <a:t> 		</a:t>
            </a:r>
          </a:p>
          <a:p>
            <a:pPr marL="0" indent="0">
              <a:buNone/>
            </a:pPr>
            <a:r>
              <a:rPr lang="en-US" b="1" dirty="0"/>
              <a:t>(2) 25 		</a:t>
            </a:r>
          </a:p>
          <a:p>
            <a:pPr marL="0" indent="0">
              <a:buNone/>
            </a:pPr>
            <a:r>
              <a:rPr lang="en-US" b="1" dirty="0"/>
              <a:t>(3) 30 		</a:t>
            </a:r>
          </a:p>
          <a:p>
            <a:pPr marL="0" indent="0">
              <a:buNone/>
            </a:pPr>
            <a:r>
              <a:rPr lang="en-US" b="1" dirty="0"/>
              <a:t>(4) 20 		</a:t>
            </a:r>
          </a:p>
          <a:p>
            <a:pPr marL="0" indent="0">
              <a:buNone/>
            </a:pPr>
            <a:r>
              <a:rPr lang="en-US" b="1" dirty="0"/>
              <a:t>(5) None of these</a:t>
            </a:r>
            <a:endParaRPr lang="en-US" dirty="0"/>
          </a:p>
        </p:txBody>
      </p:sp>
    </p:spTree>
    <p:extLst>
      <p:ext uri="{BB962C8B-B14F-4D97-AF65-F5344CB8AC3E}">
        <p14:creationId xmlns:p14="http://schemas.microsoft.com/office/powerpoint/2010/main" val="14794386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6. One man adds 6 liters of water to 11 liters of milk and another 9 liters of water to 8 liters of milk. What is the ratio of the strengths of milk in the two mixtures? </a:t>
            </a:r>
          </a:p>
          <a:p>
            <a:pPr>
              <a:buNone/>
            </a:pPr>
            <a:endParaRPr lang="en-US" b="1" dirty="0"/>
          </a:p>
          <a:p>
            <a:pPr marL="457200" indent="-457200">
              <a:buAutoNum type="arabicParenBoth"/>
            </a:pPr>
            <a:r>
              <a:rPr lang="en-US" b="1" dirty="0"/>
              <a:t>2 : 3 	</a:t>
            </a:r>
          </a:p>
          <a:p>
            <a:pPr marL="0" indent="0">
              <a:buNone/>
            </a:pPr>
            <a:r>
              <a:rPr lang="en-US" b="1" dirty="0"/>
              <a:t>(2) 3 : 2 	</a:t>
            </a:r>
          </a:p>
          <a:p>
            <a:pPr marL="0" indent="0">
              <a:buNone/>
            </a:pPr>
            <a:r>
              <a:rPr lang="en-US" b="1" dirty="0"/>
              <a:t>(3) 11 : 8 	</a:t>
            </a:r>
          </a:p>
          <a:p>
            <a:pPr marL="0" indent="0">
              <a:buNone/>
            </a:pPr>
            <a:r>
              <a:rPr lang="en-US" b="1" dirty="0"/>
              <a:t>(4) 8 : 11 	</a:t>
            </a:r>
          </a:p>
          <a:p>
            <a:pPr marL="0" indent="0">
              <a:buNone/>
            </a:pPr>
            <a:r>
              <a:rPr lang="en-US" b="1" dirty="0"/>
              <a:t>(5)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lnSpcReduction="10000"/>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6. One man adds 6 liters of water to 11 liters of milk and another 9 liters of water to 8 liters of milk. What is the ratio of the strengths of milk in the two mixtures? </a:t>
            </a:r>
          </a:p>
          <a:p>
            <a:pPr>
              <a:buNone/>
            </a:pPr>
            <a:endParaRPr lang="en-US" b="1" dirty="0"/>
          </a:p>
          <a:p>
            <a:pPr marL="457200" indent="-457200">
              <a:buAutoNum type="arabicParenBoth"/>
            </a:pPr>
            <a:r>
              <a:rPr lang="en-US" b="1" dirty="0"/>
              <a:t>2 : 3 	</a:t>
            </a:r>
          </a:p>
          <a:p>
            <a:pPr marL="0" indent="0">
              <a:buNone/>
            </a:pPr>
            <a:r>
              <a:rPr lang="en-US" b="1" dirty="0"/>
              <a:t>(2) 3 : 2 	</a:t>
            </a:r>
          </a:p>
          <a:p>
            <a:pPr marL="0" indent="0">
              <a:buNone/>
            </a:pPr>
            <a:r>
              <a:rPr lang="en-US" b="1" dirty="0">
                <a:solidFill>
                  <a:srgbClr val="FF0000"/>
                </a:solidFill>
              </a:rPr>
              <a:t>(3) 11 : 8 </a:t>
            </a:r>
            <a:r>
              <a:rPr lang="en-US" b="1" dirty="0"/>
              <a:t>	</a:t>
            </a:r>
          </a:p>
          <a:p>
            <a:pPr marL="0" indent="0">
              <a:buNone/>
            </a:pPr>
            <a:r>
              <a:rPr lang="en-US" b="1" dirty="0"/>
              <a:t>(4) 8 : 11 	</a:t>
            </a:r>
          </a:p>
          <a:p>
            <a:pPr marL="0" indent="0">
              <a:buNone/>
            </a:pPr>
            <a:r>
              <a:rPr lang="en-US" b="1" dirty="0"/>
              <a:t>(5)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4271107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7. Two vessels contain equal quantity of mixtures of milk and water in the ratio 8 : 9 and 12 : 5, respectively. Both the mixtures are now mixed thoroughly. Find the ratio of milk to water in the new mixture so obtained. </a:t>
            </a:r>
          </a:p>
          <a:p>
            <a:pPr>
              <a:buNone/>
            </a:pPr>
            <a:endParaRPr lang="en-US" b="1" dirty="0"/>
          </a:p>
          <a:p>
            <a:pPr marL="457200" indent="-457200">
              <a:buAutoNum type="arabicParenBoth"/>
            </a:pPr>
            <a:r>
              <a:rPr lang="en-US" b="1" dirty="0"/>
              <a:t>7 : 10 	</a:t>
            </a:r>
          </a:p>
          <a:p>
            <a:pPr marL="0" indent="0">
              <a:buNone/>
            </a:pPr>
            <a:r>
              <a:rPr lang="en-US" b="1" dirty="0"/>
              <a:t>(2) 13 : 21 	</a:t>
            </a:r>
          </a:p>
          <a:p>
            <a:pPr marL="0" indent="0">
              <a:buNone/>
            </a:pPr>
            <a:r>
              <a:rPr lang="en-US" b="1" dirty="0"/>
              <a:t>(3) 21 : 13 	</a:t>
            </a:r>
          </a:p>
          <a:p>
            <a:pPr marL="0" indent="0">
              <a:buNone/>
            </a:pPr>
            <a:r>
              <a:rPr lang="en-US" b="1" dirty="0"/>
              <a:t>(4) 10 : 7 	</a:t>
            </a:r>
          </a:p>
          <a:p>
            <a:pPr marL="0" indent="0">
              <a:buNone/>
            </a:pPr>
            <a:r>
              <a:rPr lang="en-US" b="1" dirty="0"/>
              <a:t>(5) None of these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7. Two vessels contain equal quantity of mixtures of milk and water in the ratio 8 : 9 and 12 : 5, respectively. Both the mixtures are now mixed thoroughly. Find the ratio of milk to water in the new mixture so obtained. </a:t>
            </a:r>
          </a:p>
          <a:p>
            <a:pPr>
              <a:buNone/>
            </a:pPr>
            <a:endParaRPr lang="en-US" b="1" dirty="0"/>
          </a:p>
          <a:p>
            <a:pPr marL="457200" indent="-457200">
              <a:buAutoNum type="arabicParenBoth"/>
            </a:pPr>
            <a:r>
              <a:rPr lang="en-US" b="1" dirty="0"/>
              <a:t>7 : 10 	</a:t>
            </a:r>
          </a:p>
          <a:p>
            <a:pPr marL="0" indent="0">
              <a:buNone/>
            </a:pPr>
            <a:r>
              <a:rPr lang="en-US" b="1" dirty="0"/>
              <a:t>(2) 13 : 21 	</a:t>
            </a:r>
          </a:p>
          <a:p>
            <a:pPr marL="0" indent="0">
              <a:buNone/>
            </a:pPr>
            <a:r>
              <a:rPr lang="en-US" b="1" dirty="0"/>
              <a:t>(3) 21 : 13 	</a:t>
            </a:r>
          </a:p>
          <a:p>
            <a:pPr marL="0" indent="0">
              <a:buNone/>
            </a:pPr>
            <a:r>
              <a:rPr lang="en-US" b="1" dirty="0">
                <a:solidFill>
                  <a:srgbClr val="FF0000"/>
                </a:solidFill>
              </a:rPr>
              <a:t>(4) 10 : 7 </a:t>
            </a:r>
            <a:r>
              <a:rPr lang="en-US" b="1" dirty="0"/>
              <a:t>	</a:t>
            </a:r>
          </a:p>
          <a:p>
            <a:pPr marL="0" indent="0">
              <a:buNone/>
            </a:pPr>
            <a:r>
              <a:rPr lang="en-US" b="1" dirty="0"/>
              <a:t>(5) None of these</a:t>
            </a:r>
          </a:p>
        </p:txBody>
      </p:sp>
    </p:spTree>
    <p:extLst>
      <p:ext uri="{BB962C8B-B14F-4D97-AF65-F5344CB8AC3E}">
        <p14:creationId xmlns:p14="http://schemas.microsoft.com/office/powerpoint/2010/main" val="2451877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8</a:t>
            </a:r>
            <a:r>
              <a:rPr lang="en-US" b="1" dirty="0"/>
              <a:t>. The contents of two vessels containing water and milk are in the ratio 2 : 3 and 4 : 5 are mixed in the ratio 1 : 2. The resulting mixture will have water and milk in the ratio________ . </a:t>
            </a:r>
          </a:p>
          <a:p>
            <a:pPr>
              <a:buNone/>
            </a:pPr>
            <a:endParaRPr lang="en-US" b="1" dirty="0"/>
          </a:p>
          <a:p>
            <a:pPr marL="457200" indent="-457200">
              <a:buAutoNum type="arabicParenBoth"/>
            </a:pPr>
            <a:r>
              <a:rPr lang="en-US" b="1" dirty="0"/>
              <a:t>77 : 58 	</a:t>
            </a:r>
          </a:p>
          <a:p>
            <a:pPr marL="0" indent="0">
              <a:buNone/>
            </a:pPr>
            <a:r>
              <a:rPr lang="en-US" b="1" dirty="0"/>
              <a:t>(2) 58 : 77 	</a:t>
            </a:r>
          </a:p>
          <a:p>
            <a:pPr marL="0" indent="0">
              <a:buNone/>
            </a:pPr>
            <a:r>
              <a:rPr lang="en-US" b="1" dirty="0"/>
              <a:t>(3) 68 : 77 	</a:t>
            </a:r>
          </a:p>
          <a:p>
            <a:pPr marL="0" indent="0">
              <a:buNone/>
            </a:pPr>
            <a:r>
              <a:rPr lang="en-US" b="1" dirty="0"/>
              <a:t>(4) 77 : 68 	</a:t>
            </a:r>
          </a:p>
          <a:p>
            <a:pPr marL="0" indent="0">
              <a:buNone/>
            </a:pPr>
            <a:r>
              <a:rPr lang="en-US" b="1" dirty="0"/>
              <a:t>(5) None of these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8</a:t>
            </a:r>
            <a:r>
              <a:rPr lang="en-US" b="1" dirty="0"/>
              <a:t>. The contents of two vessels containing water and milk are in the ratio 2 : 3 and 4 : 5 are mixed in the ratio 1 : 2. The resulting mixture will have water and milk in the ratio________ . </a:t>
            </a:r>
          </a:p>
          <a:p>
            <a:pPr>
              <a:buNone/>
            </a:pPr>
            <a:endParaRPr lang="en-US" b="1" dirty="0"/>
          </a:p>
          <a:p>
            <a:pPr marL="457200" indent="-457200">
              <a:buAutoNum type="arabicParenBoth"/>
            </a:pPr>
            <a:r>
              <a:rPr lang="en-US" b="1" dirty="0"/>
              <a:t>77 : 58 	</a:t>
            </a:r>
          </a:p>
          <a:p>
            <a:pPr marL="0" indent="0">
              <a:buNone/>
            </a:pPr>
            <a:r>
              <a:rPr lang="en-US" b="1" dirty="0">
                <a:solidFill>
                  <a:srgbClr val="FF0000"/>
                </a:solidFill>
              </a:rPr>
              <a:t>(2) 58 : 77 </a:t>
            </a:r>
            <a:r>
              <a:rPr lang="en-US" b="1" dirty="0"/>
              <a:t>	</a:t>
            </a:r>
          </a:p>
          <a:p>
            <a:pPr marL="0" indent="0">
              <a:buNone/>
            </a:pPr>
            <a:r>
              <a:rPr lang="en-US" b="1" dirty="0"/>
              <a:t>(3) 68 : 77 	</a:t>
            </a:r>
          </a:p>
          <a:p>
            <a:pPr marL="0" indent="0">
              <a:buNone/>
            </a:pPr>
            <a:r>
              <a:rPr lang="en-US" b="1" dirty="0"/>
              <a:t>(4) 77 : 68 	</a:t>
            </a:r>
          </a:p>
          <a:p>
            <a:pPr marL="0" indent="0">
              <a:buNone/>
            </a:pPr>
            <a:r>
              <a:rPr lang="en-US" b="1" dirty="0"/>
              <a:t>(5) None of these</a:t>
            </a:r>
            <a:endParaRPr lang="en-US" dirty="0"/>
          </a:p>
        </p:txBody>
      </p:sp>
    </p:spTree>
    <p:extLst>
      <p:ext uri="{BB962C8B-B14F-4D97-AF65-F5344CB8AC3E}">
        <p14:creationId xmlns:p14="http://schemas.microsoft.com/office/powerpoint/2010/main" val="19498402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9</a:t>
            </a:r>
            <a:r>
              <a:rPr lang="en-US" b="1" dirty="0"/>
              <a:t>. The contents of two vessels containing water and milk are in the ratio 3 : 4 and 5 : 4 are mixed in the ratio 1 : 4. The resulting mixture will have water and milk in the ratio_______ . </a:t>
            </a:r>
          </a:p>
          <a:p>
            <a:pPr marL="0" indent="0">
              <a:buNone/>
            </a:pPr>
            <a:endParaRPr lang="en-US" b="1" dirty="0"/>
          </a:p>
          <a:p>
            <a:pPr marL="457200" indent="-457200">
              <a:buAutoNum type="arabicParenBoth"/>
            </a:pPr>
            <a:r>
              <a:rPr lang="en-US" b="1" dirty="0"/>
              <a:t>184 : 176 	</a:t>
            </a:r>
          </a:p>
          <a:p>
            <a:pPr marL="0" indent="0">
              <a:buNone/>
            </a:pPr>
            <a:r>
              <a:rPr lang="en-US" b="1" dirty="0"/>
              <a:t>(2) 167 : 184 	</a:t>
            </a:r>
          </a:p>
          <a:p>
            <a:pPr marL="0" indent="0">
              <a:buNone/>
            </a:pPr>
            <a:r>
              <a:rPr lang="en-US" b="1" dirty="0"/>
              <a:t>(3) 167 : 148 	</a:t>
            </a:r>
          </a:p>
          <a:p>
            <a:pPr marL="0" indent="0">
              <a:buNone/>
            </a:pPr>
            <a:r>
              <a:rPr lang="en-US" b="1" dirty="0"/>
              <a:t>(4) 148 : 167 </a:t>
            </a:r>
          </a:p>
          <a:p>
            <a:pPr marL="457200" indent="-457200">
              <a:buNone/>
            </a:pPr>
            <a:r>
              <a:rPr lang="en-US" b="1" dirty="0"/>
              <a:t>(5) None of these</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9</a:t>
            </a:r>
            <a:r>
              <a:rPr lang="en-US" b="1" dirty="0"/>
              <a:t>. The contents of two vessels containing water and milk are in the ratio 3 : 4 and 5 : 4 are mixed in the ratio 1 : 4. The resulting mixture will have water and milk in the ratio_______ . </a:t>
            </a:r>
          </a:p>
          <a:p>
            <a:pPr marL="0" indent="0">
              <a:buNone/>
            </a:pPr>
            <a:endParaRPr lang="en-US" b="1" dirty="0"/>
          </a:p>
          <a:p>
            <a:pPr marL="457200" indent="-457200">
              <a:buAutoNum type="arabicParenBoth"/>
            </a:pPr>
            <a:r>
              <a:rPr lang="en-US" b="1" dirty="0"/>
              <a:t>184 : 176 	</a:t>
            </a:r>
          </a:p>
          <a:p>
            <a:pPr marL="0" indent="0">
              <a:buNone/>
            </a:pPr>
            <a:r>
              <a:rPr lang="en-US" b="1" dirty="0"/>
              <a:t>(2) 167 : 184 	</a:t>
            </a:r>
          </a:p>
          <a:p>
            <a:pPr marL="0" indent="0">
              <a:buNone/>
            </a:pPr>
            <a:r>
              <a:rPr lang="en-US" b="1" dirty="0">
                <a:solidFill>
                  <a:srgbClr val="FF0000"/>
                </a:solidFill>
              </a:rPr>
              <a:t>(3) 167 : 148 </a:t>
            </a:r>
            <a:r>
              <a:rPr lang="en-US" b="1" dirty="0"/>
              <a:t>	</a:t>
            </a:r>
          </a:p>
          <a:p>
            <a:pPr marL="0" indent="0">
              <a:buNone/>
            </a:pPr>
            <a:r>
              <a:rPr lang="en-US" b="1" dirty="0"/>
              <a:t>(4) 148 : 167 </a:t>
            </a:r>
          </a:p>
          <a:p>
            <a:pPr marL="457200" indent="-457200">
              <a:buNone/>
            </a:pPr>
            <a:r>
              <a:rPr lang="en-US" b="1" dirty="0"/>
              <a:t>(5) None of these</a:t>
            </a:r>
            <a:endParaRPr lang="en-US" dirty="0"/>
          </a:p>
        </p:txBody>
      </p:sp>
    </p:spTree>
    <p:extLst>
      <p:ext uri="{BB962C8B-B14F-4D97-AF65-F5344CB8AC3E}">
        <p14:creationId xmlns:p14="http://schemas.microsoft.com/office/powerpoint/2010/main" val="625640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10. An amount of 950 is distributed among A, B and C in the ratio of 5 : 11 : 3, what is the difference between the share of B and A? </a:t>
            </a:r>
          </a:p>
          <a:p>
            <a:pPr>
              <a:buNone/>
            </a:pPr>
            <a:endParaRPr lang="en-US" b="1" dirty="0"/>
          </a:p>
          <a:p>
            <a:pPr marL="457200" indent="-457200">
              <a:buAutoNum type="arabicParenBoth"/>
            </a:pPr>
            <a:r>
              <a:rPr lang="en-US" b="1" dirty="0"/>
              <a:t>550 	</a:t>
            </a:r>
          </a:p>
          <a:p>
            <a:pPr marL="0" indent="0">
              <a:buNone/>
            </a:pPr>
            <a:r>
              <a:rPr lang="en-US" b="1" dirty="0"/>
              <a:t>(2) 250 	</a:t>
            </a:r>
          </a:p>
          <a:p>
            <a:pPr marL="0" indent="0">
              <a:buNone/>
            </a:pPr>
            <a:r>
              <a:rPr lang="en-US" b="1" dirty="0"/>
              <a:t>(3) 200 	</a:t>
            </a:r>
          </a:p>
          <a:p>
            <a:pPr marL="0" indent="0">
              <a:buNone/>
            </a:pPr>
            <a:r>
              <a:rPr lang="en-US" b="1" dirty="0"/>
              <a:t>(4) 300 	</a:t>
            </a:r>
          </a:p>
          <a:p>
            <a:pPr marL="0" indent="0">
              <a:buNone/>
            </a:pPr>
            <a:r>
              <a:rPr lang="en-US" b="1" dirty="0"/>
              <a:t>(5) None of these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10. An amount of 950 is distributed among A, B and C in the ratio of 5 : 11 : 3, what is the difference between the share of B and A? </a:t>
            </a:r>
          </a:p>
          <a:p>
            <a:pPr>
              <a:buNone/>
            </a:pPr>
            <a:endParaRPr lang="en-US" b="1" dirty="0"/>
          </a:p>
          <a:p>
            <a:pPr marL="457200" indent="-457200">
              <a:buAutoNum type="arabicParenBoth"/>
            </a:pPr>
            <a:r>
              <a:rPr lang="en-US" b="1" dirty="0"/>
              <a:t>550 	</a:t>
            </a:r>
          </a:p>
          <a:p>
            <a:pPr marL="0" indent="0">
              <a:buNone/>
            </a:pPr>
            <a:r>
              <a:rPr lang="en-US" b="1" dirty="0"/>
              <a:t>(2) 250 	</a:t>
            </a:r>
          </a:p>
          <a:p>
            <a:pPr marL="0" indent="0">
              <a:buNone/>
            </a:pPr>
            <a:r>
              <a:rPr lang="en-US" b="1" dirty="0"/>
              <a:t>(3) 200 	</a:t>
            </a:r>
          </a:p>
          <a:p>
            <a:pPr marL="0" indent="0">
              <a:buNone/>
            </a:pPr>
            <a:r>
              <a:rPr lang="en-US" b="1" dirty="0">
                <a:solidFill>
                  <a:srgbClr val="FF0000"/>
                </a:solidFill>
              </a:rPr>
              <a:t>(4) 300 </a:t>
            </a:r>
            <a:r>
              <a:rPr lang="en-US" b="1" dirty="0"/>
              <a:t>	</a:t>
            </a:r>
          </a:p>
          <a:p>
            <a:pPr marL="0" indent="0">
              <a:buNone/>
            </a:pPr>
            <a:r>
              <a:rPr lang="en-US" b="1" dirty="0"/>
              <a:t>(5) None of these</a:t>
            </a:r>
            <a:endParaRPr lang="en-US" dirty="0"/>
          </a:p>
        </p:txBody>
      </p:sp>
    </p:spTree>
    <p:extLst>
      <p:ext uri="{BB962C8B-B14F-4D97-AF65-F5344CB8AC3E}">
        <p14:creationId xmlns:p14="http://schemas.microsoft.com/office/powerpoint/2010/main" val="3924088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11. A and B are two alloys of gold and copper prepared by mixing metals in proportions 7 : 2 and 7 : 11, respectively. If equal quantities of alloys are melted to form a third alloy C, the proportion of gold and copper in C will be : </a:t>
            </a:r>
          </a:p>
          <a:p>
            <a:pPr marL="457200" indent="-457200">
              <a:buAutoNum type="arabicParenBoth"/>
            </a:pPr>
            <a:r>
              <a:rPr lang="en-US" b="1" dirty="0"/>
              <a:t>5 : 9 	</a:t>
            </a:r>
          </a:p>
          <a:p>
            <a:pPr marL="0" indent="0">
              <a:buNone/>
            </a:pPr>
            <a:r>
              <a:rPr lang="en-US" b="1" dirty="0"/>
              <a:t>(2) 5 : 7 	</a:t>
            </a:r>
          </a:p>
          <a:p>
            <a:pPr marL="0" indent="0">
              <a:buNone/>
            </a:pPr>
            <a:r>
              <a:rPr lang="en-US" b="1" dirty="0"/>
              <a:t>(3) 7 : 5 	</a:t>
            </a:r>
          </a:p>
          <a:p>
            <a:pPr marL="0" indent="0">
              <a:buNone/>
            </a:pPr>
            <a:r>
              <a:rPr lang="en-US" b="1" dirty="0"/>
              <a:t>(4) 9 : 5 	</a:t>
            </a:r>
          </a:p>
          <a:p>
            <a:pPr marL="0" indent="0">
              <a:buNone/>
            </a:pPr>
            <a:r>
              <a:rPr lang="en-US" b="1" dirty="0"/>
              <a:t>(5) None of these</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11. A and B are two alloys of gold and copper prepared by mixing metals in proportions 7 : 2 and 7 : 11, respectively. If equal quantities of alloys are melted to form a third alloy C, the proportion of gold and copper in C will be : </a:t>
            </a:r>
          </a:p>
          <a:p>
            <a:pPr marL="457200" indent="-457200">
              <a:buAutoNum type="arabicParenBoth"/>
            </a:pPr>
            <a:r>
              <a:rPr lang="en-US" b="1" dirty="0"/>
              <a:t>5 : 9 	</a:t>
            </a:r>
          </a:p>
          <a:p>
            <a:pPr marL="0" indent="0">
              <a:buNone/>
            </a:pPr>
            <a:r>
              <a:rPr lang="en-US" b="1" dirty="0"/>
              <a:t>(2) 5 : 7 	</a:t>
            </a:r>
          </a:p>
          <a:p>
            <a:pPr marL="0" indent="0">
              <a:buNone/>
            </a:pPr>
            <a:r>
              <a:rPr lang="en-US" b="1" dirty="0">
                <a:solidFill>
                  <a:srgbClr val="FF0000"/>
                </a:solidFill>
              </a:rPr>
              <a:t>(3) 7 : 5 </a:t>
            </a:r>
            <a:r>
              <a:rPr lang="en-US" b="1" dirty="0"/>
              <a:t>	</a:t>
            </a:r>
          </a:p>
          <a:p>
            <a:pPr marL="0" indent="0">
              <a:buNone/>
            </a:pPr>
            <a:r>
              <a:rPr lang="en-US" b="1" dirty="0"/>
              <a:t>(4) 9 : 5 	</a:t>
            </a:r>
          </a:p>
          <a:p>
            <a:pPr marL="0" indent="0">
              <a:buNone/>
            </a:pPr>
            <a:r>
              <a:rPr lang="en-US" b="1" dirty="0"/>
              <a:t>(5) None of these</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30452557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12. The sum of three numbers is 105. If the ratio between the first and second be 2 : 3 and that between the second and third be 4 : 5, then find the second number. </a:t>
            </a:r>
          </a:p>
          <a:p>
            <a:pPr>
              <a:buNone/>
            </a:pPr>
            <a:endParaRPr lang="en-US" b="1" dirty="0"/>
          </a:p>
          <a:p>
            <a:pPr marL="457200" indent="-457200">
              <a:buAutoNum type="arabicParenBoth"/>
            </a:pPr>
            <a:r>
              <a:rPr lang="en-US" b="1" dirty="0"/>
              <a:t>35 		</a:t>
            </a:r>
          </a:p>
          <a:p>
            <a:pPr marL="0" indent="0">
              <a:buNone/>
            </a:pPr>
            <a:r>
              <a:rPr lang="en-US" b="1" dirty="0"/>
              <a:t>(2) 24 		</a:t>
            </a:r>
          </a:p>
          <a:p>
            <a:pPr marL="0" indent="0">
              <a:buNone/>
            </a:pPr>
            <a:r>
              <a:rPr lang="en-US" b="1" dirty="0"/>
              <a:t>(3) 36 		</a:t>
            </a:r>
          </a:p>
          <a:p>
            <a:pPr marL="0" indent="0">
              <a:buNone/>
            </a:pPr>
            <a:r>
              <a:rPr lang="en-US" b="1" dirty="0"/>
              <a:t>(4) 45 		</a:t>
            </a:r>
          </a:p>
          <a:p>
            <a:pPr marL="0" indent="0">
              <a:buNone/>
            </a:pPr>
            <a:r>
              <a:rPr lang="en-US" b="1" dirty="0"/>
              <a:t>(5) None of these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12. The sum of three numbers is 105. If the ratio between the first and second be 2 : 3 and that between the second and third be 4 : 5, then find the second number. </a:t>
            </a:r>
          </a:p>
          <a:p>
            <a:pPr>
              <a:buNone/>
            </a:pPr>
            <a:endParaRPr lang="en-US" b="1" dirty="0"/>
          </a:p>
          <a:p>
            <a:pPr marL="457200" indent="-457200">
              <a:buAutoNum type="arabicParenBoth"/>
            </a:pPr>
            <a:r>
              <a:rPr lang="en-US" b="1" dirty="0"/>
              <a:t>35 		</a:t>
            </a:r>
          </a:p>
          <a:p>
            <a:pPr marL="0" indent="0">
              <a:buNone/>
            </a:pPr>
            <a:r>
              <a:rPr lang="en-US" b="1" dirty="0"/>
              <a:t>(2) 24 		</a:t>
            </a:r>
          </a:p>
          <a:p>
            <a:pPr marL="0" indent="0">
              <a:buNone/>
            </a:pPr>
            <a:r>
              <a:rPr lang="en-US" b="1" dirty="0">
                <a:solidFill>
                  <a:srgbClr val="FF0000"/>
                </a:solidFill>
              </a:rPr>
              <a:t>(3) 36 </a:t>
            </a:r>
            <a:r>
              <a:rPr lang="en-US" b="1" dirty="0"/>
              <a:t>		</a:t>
            </a:r>
          </a:p>
          <a:p>
            <a:pPr marL="0" indent="0">
              <a:buNone/>
            </a:pPr>
            <a:r>
              <a:rPr lang="en-US" b="1" dirty="0"/>
              <a:t>(4) 45 		</a:t>
            </a:r>
          </a:p>
          <a:p>
            <a:pPr marL="0" indent="0">
              <a:buNone/>
            </a:pPr>
            <a:r>
              <a:rPr lang="en-US" b="1" dirty="0"/>
              <a:t>(5) None of these</a:t>
            </a:r>
            <a:endParaRPr lang="en-US" dirty="0"/>
          </a:p>
        </p:txBody>
      </p:sp>
    </p:spTree>
    <p:extLst>
      <p:ext uri="{BB962C8B-B14F-4D97-AF65-F5344CB8AC3E}">
        <p14:creationId xmlns:p14="http://schemas.microsoft.com/office/powerpoint/2010/main" val="3577959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13. If A : B = 3 : 4, B : C = 5 : 7 and C : D = 3 : 5, then find A : B : C : D. </a:t>
            </a:r>
          </a:p>
          <a:p>
            <a:pPr marL="0" indent="0">
              <a:buNone/>
            </a:pPr>
            <a:endParaRPr lang="en-US" b="1" dirty="0"/>
          </a:p>
          <a:p>
            <a:pPr marL="457200" indent="-457200">
              <a:buAutoNum type="arabicParenBoth"/>
            </a:pPr>
            <a:r>
              <a:rPr lang="en-US" b="1" dirty="0"/>
              <a:t>9 : 21 : 12 : 28 		</a:t>
            </a:r>
          </a:p>
          <a:p>
            <a:pPr marL="0" indent="0">
              <a:buNone/>
            </a:pPr>
            <a:r>
              <a:rPr lang="en-US" b="1" dirty="0"/>
              <a:t>(2) 45 : 60 : 84 : 140 		</a:t>
            </a:r>
          </a:p>
          <a:p>
            <a:pPr marL="0" indent="0">
              <a:buNone/>
            </a:pPr>
            <a:r>
              <a:rPr lang="en-US" b="1" dirty="0"/>
              <a:t>(3) 9 : 12 : 28 : 21 </a:t>
            </a:r>
          </a:p>
          <a:p>
            <a:pPr marL="457200" indent="-457200">
              <a:buNone/>
            </a:pPr>
            <a:r>
              <a:rPr lang="en-US" b="1" dirty="0"/>
              <a:t>(4) 9 : 12 : 21 : 82 		</a:t>
            </a:r>
          </a:p>
          <a:p>
            <a:pPr marL="457200" indent="-457200">
              <a:buNone/>
            </a:pPr>
            <a:r>
              <a:rPr lang="en-US" b="1" dirty="0"/>
              <a:t>(5) None of these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13. If A : B = 3 : 4, B : C = 5 : 7 and C : D = 3 : 5, then find A : B : C : D. </a:t>
            </a:r>
          </a:p>
          <a:p>
            <a:pPr marL="0" indent="0">
              <a:buNone/>
            </a:pPr>
            <a:endParaRPr lang="en-US" b="1" dirty="0"/>
          </a:p>
          <a:p>
            <a:pPr marL="457200" indent="-457200">
              <a:buAutoNum type="arabicParenBoth"/>
            </a:pPr>
            <a:r>
              <a:rPr lang="en-US" b="1" dirty="0"/>
              <a:t>9 : 21 : 12 : 28 		</a:t>
            </a:r>
          </a:p>
          <a:p>
            <a:pPr marL="0" indent="0">
              <a:buNone/>
            </a:pPr>
            <a:r>
              <a:rPr lang="en-US" b="1" dirty="0">
                <a:solidFill>
                  <a:srgbClr val="FF0000"/>
                </a:solidFill>
              </a:rPr>
              <a:t>(2) 45 : 60 : 84 : 140 </a:t>
            </a:r>
            <a:r>
              <a:rPr lang="en-US" b="1" dirty="0"/>
              <a:t>		</a:t>
            </a:r>
          </a:p>
          <a:p>
            <a:pPr marL="0" indent="0">
              <a:buNone/>
            </a:pPr>
            <a:r>
              <a:rPr lang="en-US" b="1" dirty="0"/>
              <a:t>(3) 9 : 12 : 28 : 21 </a:t>
            </a:r>
          </a:p>
          <a:p>
            <a:pPr marL="457200" indent="-457200">
              <a:buNone/>
            </a:pPr>
            <a:r>
              <a:rPr lang="en-US" b="1" dirty="0"/>
              <a:t>(4) 9 : 12 : 21 : 82 		</a:t>
            </a:r>
          </a:p>
          <a:p>
            <a:pPr marL="457200" indent="-457200">
              <a:buNone/>
            </a:pPr>
            <a:r>
              <a:rPr lang="en-US" b="1" dirty="0"/>
              <a:t>(5) None of these</a:t>
            </a:r>
          </a:p>
        </p:txBody>
      </p:sp>
    </p:spTree>
    <p:extLst>
      <p:ext uri="{BB962C8B-B14F-4D97-AF65-F5344CB8AC3E}">
        <p14:creationId xmlns:p14="http://schemas.microsoft.com/office/powerpoint/2010/main" val="33652941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14. A hound pursues a hare and takes 6 leaps for every 7 leaps of the hare, but 5 leaps of the hound are equal to 6 leaps of the hare. Compare the rates of the hound and the hare. </a:t>
            </a:r>
          </a:p>
          <a:p>
            <a:pPr>
              <a:buNone/>
            </a:pPr>
            <a:endParaRPr lang="en-US" b="1" dirty="0"/>
          </a:p>
          <a:p>
            <a:pPr marL="457200" indent="-457200">
              <a:buAutoNum type="arabicParenBoth"/>
            </a:pPr>
            <a:r>
              <a:rPr lang="en-US" b="1" dirty="0"/>
              <a:t>36 : 35 	</a:t>
            </a:r>
          </a:p>
          <a:p>
            <a:pPr marL="0" indent="0">
              <a:buNone/>
            </a:pPr>
            <a:r>
              <a:rPr lang="en-US" b="1" dirty="0"/>
              <a:t>(2) 35 : 34 	</a:t>
            </a:r>
          </a:p>
          <a:p>
            <a:pPr marL="0" indent="0">
              <a:buNone/>
            </a:pPr>
            <a:r>
              <a:rPr lang="en-US" b="1" dirty="0"/>
              <a:t>(3) 34 : 33 	</a:t>
            </a:r>
          </a:p>
          <a:p>
            <a:pPr marL="0" indent="0">
              <a:buNone/>
            </a:pPr>
            <a:r>
              <a:rPr lang="en-US" b="1" dirty="0"/>
              <a:t>(4) 31 : 32 	</a:t>
            </a:r>
          </a:p>
          <a:p>
            <a:pPr marL="0" indent="0">
              <a:buNone/>
            </a:pPr>
            <a:r>
              <a:rPr lang="en-US" b="1" dirty="0"/>
              <a:t>(5) None of these</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14. A hound pursues a hare and takes 6 leaps for every 7 leaps of the hare, but 5 leaps of the hound are equal to 6 leaps of the hare. Compare the rates of the hound and the hare. </a:t>
            </a:r>
          </a:p>
          <a:p>
            <a:pPr>
              <a:buNone/>
            </a:pPr>
            <a:endParaRPr lang="en-US" b="1" dirty="0"/>
          </a:p>
          <a:p>
            <a:pPr marL="457200" indent="-457200">
              <a:buAutoNum type="arabicParenBoth"/>
            </a:pPr>
            <a:r>
              <a:rPr lang="en-US" b="1" dirty="0">
                <a:solidFill>
                  <a:srgbClr val="FF0000"/>
                </a:solidFill>
              </a:rPr>
              <a:t>36 : 35 </a:t>
            </a:r>
            <a:r>
              <a:rPr lang="en-US" b="1" dirty="0"/>
              <a:t>	</a:t>
            </a:r>
          </a:p>
          <a:p>
            <a:pPr marL="0" indent="0">
              <a:buNone/>
            </a:pPr>
            <a:r>
              <a:rPr lang="en-US" b="1" dirty="0"/>
              <a:t>(2) 35 : 34 	</a:t>
            </a:r>
          </a:p>
          <a:p>
            <a:pPr marL="0" indent="0">
              <a:buNone/>
            </a:pPr>
            <a:r>
              <a:rPr lang="en-US" b="1" dirty="0"/>
              <a:t>(3) 34 : 33 	</a:t>
            </a:r>
          </a:p>
          <a:p>
            <a:pPr marL="0" indent="0">
              <a:buNone/>
            </a:pPr>
            <a:r>
              <a:rPr lang="en-US" b="1" dirty="0"/>
              <a:t>(4) 31 : 32 	</a:t>
            </a:r>
          </a:p>
          <a:p>
            <a:pPr marL="0" indent="0">
              <a:buNone/>
            </a:pPr>
            <a:r>
              <a:rPr lang="en-US" b="1" dirty="0"/>
              <a:t>(5) None of these</a:t>
            </a:r>
            <a:endParaRPr lang="en-US" dirty="0"/>
          </a:p>
        </p:txBody>
      </p:sp>
    </p:spTree>
    <p:extLst>
      <p:ext uri="{BB962C8B-B14F-4D97-AF65-F5344CB8AC3E}">
        <p14:creationId xmlns:p14="http://schemas.microsoft.com/office/powerpoint/2010/main" val="32831064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15. In 28 liters mixture of milk and water the ratio of milk and water is 5 : 2. How much water should be added in the mixture so that the ratio of milk to water becomes 2 : 5? </a:t>
            </a:r>
          </a:p>
          <a:p>
            <a:pPr marL="0" indent="0">
              <a:buNone/>
            </a:pPr>
            <a:endParaRPr lang="en-US" b="1" dirty="0"/>
          </a:p>
          <a:p>
            <a:pPr marL="457200" indent="-457200">
              <a:buAutoNum type="arabicParenBoth"/>
            </a:pPr>
            <a:r>
              <a:rPr lang="en-US" b="1" dirty="0"/>
              <a:t>42 liters 		</a:t>
            </a:r>
          </a:p>
          <a:p>
            <a:pPr marL="0" indent="0">
              <a:buNone/>
            </a:pPr>
            <a:r>
              <a:rPr lang="en-US" b="1" dirty="0"/>
              <a:t>(2) 32 liters 		</a:t>
            </a:r>
          </a:p>
          <a:p>
            <a:pPr marL="0" indent="0">
              <a:buNone/>
            </a:pPr>
            <a:r>
              <a:rPr lang="en-US" b="1" dirty="0"/>
              <a:t>(3) 24 liters 		</a:t>
            </a:r>
          </a:p>
          <a:p>
            <a:pPr marL="0" indent="0">
              <a:buNone/>
            </a:pPr>
            <a:r>
              <a:rPr lang="en-US" b="1" dirty="0"/>
              <a:t>(4) 39 liters </a:t>
            </a:r>
          </a:p>
          <a:p>
            <a:pPr marL="457200" indent="-457200">
              <a:buNone/>
            </a:pPr>
            <a:r>
              <a:rPr lang="en-US" b="1" dirty="0"/>
              <a:t>(5) None of these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15. In 28 liters mixture of milk and water the ratio of milk and water is 5 : 2. How much water should be added in the mixture so that the ratio of milk to water becomes 2 : 5? </a:t>
            </a:r>
          </a:p>
          <a:p>
            <a:pPr marL="0" indent="0">
              <a:buNone/>
            </a:pPr>
            <a:endParaRPr lang="en-US" b="1" dirty="0"/>
          </a:p>
          <a:p>
            <a:pPr marL="457200" indent="-457200">
              <a:buAutoNum type="arabicParenBoth"/>
            </a:pPr>
            <a:r>
              <a:rPr lang="en-US" b="1" dirty="0">
                <a:solidFill>
                  <a:srgbClr val="FF0000"/>
                </a:solidFill>
              </a:rPr>
              <a:t>42 liters </a:t>
            </a:r>
            <a:r>
              <a:rPr lang="en-US" b="1" dirty="0"/>
              <a:t>		</a:t>
            </a:r>
          </a:p>
          <a:p>
            <a:pPr marL="0" indent="0">
              <a:buNone/>
            </a:pPr>
            <a:r>
              <a:rPr lang="en-US" b="1" dirty="0"/>
              <a:t>(2) 32 liters 		</a:t>
            </a:r>
          </a:p>
          <a:p>
            <a:pPr marL="0" indent="0">
              <a:buNone/>
            </a:pPr>
            <a:r>
              <a:rPr lang="en-US" b="1" dirty="0"/>
              <a:t>(3) 24 liters 		</a:t>
            </a:r>
          </a:p>
          <a:p>
            <a:pPr marL="0" indent="0">
              <a:buNone/>
            </a:pPr>
            <a:r>
              <a:rPr lang="en-US" b="1" dirty="0"/>
              <a:t>(4) 39 liters </a:t>
            </a:r>
          </a:p>
          <a:p>
            <a:pPr marL="457200" indent="-457200">
              <a:buNone/>
            </a:pPr>
            <a:r>
              <a:rPr lang="en-US" b="1" dirty="0"/>
              <a:t>(5) None of these</a:t>
            </a:r>
          </a:p>
        </p:txBody>
      </p:sp>
    </p:spTree>
    <p:extLst>
      <p:ext uri="{BB962C8B-B14F-4D97-AF65-F5344CB8AC3E}">
        <p14:creationId xmlns:p14="http://schemas.microsoft.com/office/powerpoint/2010/main" val="1407875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16</a:t>
            </a:r>
            <a:r>
              <a:rPr lang="en-US" b="1" dirty="0"/>
              <a:t>. A mixture contains milk and water in the ratio of 9 : 4. On adding 4 liters of water, the ratio of milk to water becomes 3 : 2. Find the total quantity of the original mixture. </a:t>
            </a:r>
          </a:p>
          <a:p>
            <a:pPr marL="0" indent="0">
              <a:buNone/>
            </a:pPr>
            <a:endParaRPr lang="en-US" b="1" dirty="0"/>
          </a:p>
          <a:p>
            <a:pPr marL="457200" indent="-457200">
              <a:buAutoNum type="arabicParenBoth"/>
            </a:pPr>
            <a:r>
              <a:rPr lang="en-US" b="1" dirty="0"/>
              <a:t>26 liters 		</a:t>
            </a:r>
          </a:p>
          <a:p>
            <a:pPr marL="0" indent="0">
              <a:buNone/>
            </a:pPr>
            <a:r>
              <a:rPr lang="en-US" b="1" dirty="0"/>
              <a:t>(2) 18 liters 		</a:t>
            </a:r>
          </a:p>
          <a:p>
            <a:pPr marL="0" indent="0">
              <a:buNone/>
            </a:pPr>
            <a:r>
              <a:rPr lang="en-US" b="1" dirty="0"/>
              <a:t>(3) 10 liters 		</a:t>
            </a:r>
          </a:p>
          <a:p>
            <a:pPr marL="0" indent="0">
              <a:buNone/>
            </a:pPr>
            <a:r>
              <a:rPr lang="en-US" b="1" dirty="0"/>
              <a:t>(4) 30 liters </a:t>
            </a:r>
          </a:p>
          <a:p>
            <a:pPr marL="457200" indent="-457200">
              <a:buNone/>
            </a:pPr>
            <a:r>
              <a:rPr lang="en-US" b="1" dirty="0"/>
              <a:t>(5) None of these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16</a:t>
            </a:r>
            <a:r>
              <a:rPr lang="en-US" b="1" dirty="0"/>
              <a:t>. A mixture contains milk and water in the ratio of 9 : 4. On adding 4 liters of water, the ratio of milk to water becomes 3 : 2. Find the total quantity of the original mixture. </a:t>
            </a:r>
          </a:p>
          <a:p>
            <a:pPr marL="0" indent="0">
              <a:buNone/>
            </a:pPr>
            <a:endParaRPr lang="en-US" b="1" dirty="0"/>
          </a:p>
          <a:p>
            <a:pPr marL="457200" indent="-457200">
              <a:buAutoNum type="arabicParenBoth"/>
            </a:pPr>
            <a:r>
              <a:rPr lang="en-US" b="1" dirty="0">
                <a:solidFill>
                  <a:srgbClr val="FF0000"/>
                </a:solidFill>
              </a:rPr>
              <a:t>26 liters </a:t>
            </a:r>
            <a:r>
              <a:rPr lang="en-US" b="1" dirty="0"/>
              <a:t>		</a:t>
            </a:r>
          </a:p>
          <a:p>
            <a:pPr marL="0" indent="0">
              <a:buNone/>
            </a:pPr>
            <a:r>
              <a:rPr lang="en-US" b="1" dirty="0"/>
              <a:t>(2) 18 liters 		</a:t>
            </a:r>
          </a:p>
          <a:p>
            <a:pPr marL="0" indent="0">
              <a:buNone/>
            </a:pPr>
            <a:r>
              <a:rPr lang="en-US" b="1" dirty="0"/>
              <a:t>(3) 10 liters 		</a:t>
            </a:r>
          </a:p>
          <a:p>
            <a:pPr marL="0" indent="0">
              <a:buNone/>
            </a:pPr>
            <a:r>
              <a:rPr lang="en-US" b="1" dirty="0"/>
              <a:t>(4) 30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1036002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17</a:t>
            </a:r>
            <a:r>
              <a:rPr lang="en-US" b="1" dirty="0"/>
              <a:t>. The ratio between two numbers is 15 : 7. If each number be decreased by 2, the ratio becomes 7 : 3. Find the numbers. </a:t>
            </a:r>
          </a:p>
          <a:p>
            <a:pPr>
              <a:buNone/>
            </a:pPr>
            <a:endParaRPr lang="en-US" b="1" dirty="0"/>
          </a:p>
          <a:p>
            <a:pPr marL="457200" indent="-457200">
              <a:buAutoNum type="arabicParenBoth"/>
            </a:pPr>
            <a:r>
              <a:rPr lang="en-US" b="1" dirty="0"/>
              <a:t>15, 7 	</a:t>
            </a:r>
          </a:p>
          <a:p>
            <a:pPr marL="0" indent="0">
              <a:buNone/>
            </a:pPr>
            <a:r>
              <a:rPr lang="en-US" b="1" dirty="0"/>
              <a:t>(2) 30, 14 	</a:t>
            </a:r>
          </a:p>
          <a:p>
            <a:pPr marL="0" indent="0">
              <a:buNone/>
            </a:pPr>
            <a:r>
              <a:rPr lang="en-US" b="1" dirty="0"/>
              <a:t>(3) 45, 21 	</a:t>
            </a:r>
          </a:p>
          <a:p>
            <a:pPr marL="0" indent="0">
              <a:buNone/>
            </a:pPr>
            <a:r>
              <a:rPr lang="en-US" b="1" dirty="0"/>
              <a:t>(4) 60, 28 	</a:t>
            </a:r>
          </a:p>
          <a:p>
            <a:pPr marL="0" indent="0">
              <a:buNone/>
            </a:pPr>
            <a:r>
              <a:rPr lang="en-US" b="1" dirty="0"/>
              <a:t>(5) None of these</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17</a:t>
            </a:r>
            <a:r>
              <a:rPr lang="en-US" b="1" dirty="0"/>
              <a:t>. The ratio between two numbers is 15 : 7. If each number be decreased by 2, the ratio becomes 7 : 3. Find the numbers. </a:t>
            </a:r>
          </a:p>
          <a:p>
            <a:pPr>
              <a:buNone/>
            </a:pPr>
            <a:endParaRPr lang="en-US" b="1" dirty="0"/>
          </a:p>
          <a:p>
            <a:pPr marL="457200" indent="-457200">
              <a:buAutoNum type="arabicParenBoth"/>
            </a:pPr>
            <a:r>
              <a:rPr lang="en-US" b="1" dirty="0"/>
              <a:t>15, 7 	</a:t>
            </a:r>
          </a:p>
          <a:p>
            <a:pPr marL="0" indent="0">
              <a:buNone/>
            </a:pPr>
            <a:r>
              <a:rPr lang="en-US" b="1" dirty="0">
                <a:solidFill>
                  <a:srgbClr val="FF0000"/>
                </a:solidFill>
              </a:rPr>
              <a:t>(2) 30, 14 </a:t>
            </a:r>
            <a:r>
              <a:rPr lang="en-US" b="1" dirty="0"/>
              <a:t>	</a:t>
            </a:r>
          </a:p>
          <a:p>
            <a:pPr marL="0" indent="0">
              <a:buNone/>
            </a:pPr>
            <a:r>
              <a:rPr lang="en-US" b="1" dirty="0"/>
              <a:t>(3) 45, 21 	</a:t>
            </a:r>
          </a:p>
          <a:p>
            <a:pPr marL="0" indent="0">
              <a:buNone/>
            </a:pPr>
            <a:r>
              <a:rPr lang="en-US" b="1" dirty="0"/>
              <a:t>(4) 60, 28 	</a:t>
            </a:r>
          </a:p>
          <a:p>
            <a:pPr marL="0" indent="0">
              <a:buNone/>
            </a:pPr>
            <a:r>
              <a:rPr lang="en-US" b="1" dirty="0"/>
              <a:t>(5) None of these</a:t>
            </a:r>
            <a:endParaRPr lang="en-US" dirty="0"/>
          </a:p>
        </p:txBody>
      </p:sp>
    </p:spTree>
    <p:extLst>
      <p:ext uri="{BB962C8B-B14F-4D97-AF65-F5344CB8AC3E}">
        <p14:creationId xmlns:p14="http://schemas.microsoft.com/office/powerpoint/2010/main" val="30083064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18</a:t>
            </a:r>
            <a:r>
              <a:rPr lang="en-US" b="1" dirty="0"/>
              <a:t>. The incomes of A and B are in the ratio 9 : 4 and their expenditures are in the ratio 7 : 3. If each saves 2000, what are their incomes? </a:t>
            </a:r>
          </a:p>
          <a:p>
            <a:pPr marL="0" indent="0">
              <a:buNone/>
            </a:pPr>
            <a:endParaRPr lang="en-US" b="1" dirty="0"/>
          </a:p>
          <a:p>
            <a:pPr marL="457200" indent="-457200">
              <a:buAutoNum type="arabicParenBoth"/>
            </a:pPr>
            <a:r>
              <a:rPr lang="en-US" b="1" dirty="0"/>
              <a:t>90000, 4000 	</a:t>
            </a:r>
          </a:p>
          <a:p>
            <a:pPr marL="0" indent="0">
              <a:buNone/>
            </a:pPr>
            <a:r>
              <a:rPr lang="en-US" b="1" dirty="0"/>
              <a:t>(2) 27000, 12000 	</a:t>
            </a:r>
          </a:p>
          <a:p>
            <a:pPr marL="0" indent="0">
              <a:buNone/>
            </a:pPr>
            <a:r>
              <a:rPr lang="en-US" b="1" dirty="0"/>
              <a:t>(3) 72000, 16000 	</a:t>
            </a:r>
          </a:p>
          <a:p>
            <a:pPr marL="0" indent="0">
              <a:buNone/>
            </a:pPr>
            <a:r>
              <a:rPr lang="en-US" b="1" dirty="0"/>
              <a:t>(4) 72000, 32000 </a:t>
            </a:r>
          </a:p>
          <a:p>
            <a:pPr marL="457200" indent="-457200">
              <a:buNone/>
            </a:pPr>
            <a:r>
              <a:rPr lang="en-US" b="1" dirty="0"/>
              <a:t>(5) None of these</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18</a:t>
            </a:r>
            <a:r>
              <a:rPr lang="en-US" b="1" dirty="0"/>
              <a:t>. The incomes of A and B are in the ratio 9 : 4 and their expenditures are in the ratio 7 : 3. If each saves 2000, what are their incomes? </a:t>
            </a:r>
          </a:p>
          <a:p>
            <a:pPr marL="0" indent="0">
              <a:buNone/>
            </a:pPr>
            <a:endParaRPr lang="en-US" b="1" dirty="0"/>
          </a:p>
          <a:p>
            <a:pPr marL="457200" indent="-457200">
              <a:buAutoNum type="arabicParenBoth"/>
            </a:pPr>
            <a:r>
              <a:rPr lang="en-US" b="1" dirty="0"/>
              <a:t>90000, 4000 	</a:t>
            </a:r>
          </a:p>
          <a:p>
            <a:pPr marL="0" indent="0">
              <a:buNone/>
            </a:pPr>
            <a:r>
              <a:rPr lang="en-US" b="1" dirty="0"/>
              <a:t>(2) 27000, 12000 	</a:t>
            </a:r>
          </a:p>
          <a:p>
            <a:pPr marL="0" indent="0">
              <a:buNone/>
            </a:pPr>
            <a:r>
              <a:rPr lang="en-US" b="1" dirty="0"/>
              <a:t>(3) 72000, 16000 	</a:t>
            </a:r>
          </a:p>
          <a:p>
            <a:pPr marL="0" indent="0">
              <a:buNone/>
            </a:pPr>
            <a:r>
              <a:rPr lang="en-US" b="1" dirty="0">
                <a:solidFill>
                  <a:srgbClr val="FF0000"/>
                </a:solidFill>
              </a:rPr>
              <a:t>(4) 72000, 32000 </a:t>
            </a:r>
          </a:p>
          <a:p>
            <a:pPr marL="457200" indent="-457200">
              <a:buNone/>
            </a:pPr>
            <a:r>
              <a:rPr lang="en-US" b="1" dirty="0"/>
              <a:t>(5) None of these</a:t>
            </a:r>
            <a:endParaRPr lang="en-US" dirty="0"/>
          </a:p>
        </p:txBody>
      </p:sp>
    </p:spTree>
    <p:extLst>
      <p:ext uri="{BB962C8B-B14F-4D97-AF65-F5344CB8AC3E}">
        <p14:creationId xmlns:p14="http://schemas.microsoft.com/office/powerpoint/2010/main" val="2284296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19</a:t>
            </a:r>
            <a:r>
              <a:rPr lang="en-US" b="1" dirty="0"/>
              <a:t>. Find the number which, when added to the terms of the ratio 13 : 28 makes it equal to the ratio 1 : 2.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19</a:t>
            </a:r>
            <a:r>
              <a:rPr lang="en-US" b="1" dirty="0"/>
              <a:t>. Find the number which, when added to the terms of the ratio 13 : 28 makes it equal to the ratio 1 : 2.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solidFill>
                  <a:srgbClr val="FF0000"/>
                </a:solidFill>
              </a:rPr>
              <a:t>(3) 2</a:t>
            </a:r>
            <a:r>
              <a:rPr lang="en-US" b="1" dirty="0"/>
              <a:t>		 </a:t>
            </a:r>
          </a:p>
          <a:p>
            <a:pPr marL="0" indent="0">
              <a:buNone/>
            </a:pPr>
            <a:r>
              <a:rPr lang="en-US" b="1" dirty="0"/>
              <a:t>(4) 1 		</a:t>
            </a:r>
          </a:p>
          <a:p>
            <a:pPr marL="0" indent="0">
              <a:buNone/>
            </a:pPr>
            <a:r>
              <a:rPr lang="en-US" b="1" dirty="0"/>
              <a:t>(5) None of these</a:t>
            </a:r>
            <a:endParaRPr lang="en-US" dirty="0"/>
          </a:p>
        </p:txBody>
      </p:sp>
    </p:spTree>
    <p:extLst>
      <p:ext uri="{BB962C8B-B14F-4D97-AF65-F5344CB8AC3E}">
        <p14:creationId xmlns:p14="http://schemas.microsoft.com/office/powerpoint/2010/main" val="27102342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20. Find the number which, when subtracted from the terms of the ratio 11 : 25 makes it equal to the ratio 4 : 11. </a:t>
            </a:r>
          </a:p>
          <a:p>
            <a:pPr>
              <a:buNone/>
            </a:pPr>
            <a:endParaRPr lang="en-US" b="1" dirty="0"/>
          </a:p>
          <a:p>
            <a:pPr marL="457200" indent="-457200">
              <a:buAutoNum type="arabicParenBoth"/>
            </a:pPr>
            <a:r>
              <a:rPr lang="en-US" b="1" dirty="0"/>
              <a:t>4 		</a:t>
            </a:r>
          </a:p>
          <a:p>
            <a:pPr marL="0" indent="0">
              <a:buNone/>
            </a:pPr>
            <a:r>
              <a:rPr lang="en-US" b="1" dirty="0"/>
              <a:t>(2) 3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a:t>
            </a:r>
            <a:r>
              <a:rPr lang="en-US" b="1" dirty="0"/>
              <a:t>20. Find the number which, when subtracted from the terms of the ratio 11 : 25 makes it equal to the ratio 4 : 11. </a:t>
            </a:r>
          </a:p>
          <a:p>
            <a:pPr>
              <a:buNone/>
            </a:pPr>
            <a:endParaRPr lang="en-US" b="1" dirty="0"/>
          </a:p>
          <a:p>
            <a:pPr marL="457200" indent="-457200">
              <a:buAutoNum type="arabicParenBoth"/>
            </a:pPr>
            <a:r>
              <a:rPr lang="en-US" b="1" dirty="0"/>
              <a:t>4 		</a:t>
            </a:r>
          </a:p>
          <a:p>
            <a:pPr marL="0" indent="0">
              <a:buNone/>
            </a:pPr>
            <a:r>
              <a:rPr lang="en-US" b="1" dirty="0">
                <a:solidFill>
                  <a:srgbClr val="FF0000"/>
                </a:solidFill>
              </a:rPr>
              <a:t>(2) 3 </a:t>
            </a:r>
            <a:r>
              <a:rPr lang="en-US" b="1" dirty="0"/>
              <a:t>		</a:t>
            </a:r>
          </a:p>
          <a:p>
            <a:pPr marL="0" indent="0">
              <a:buNone/>
            </a:pPr>
            <a:r>
              <a:rPr lang="en-US" b="1" dirty="0"/>
              <a:t>(3) 2 		</a:t>
            </a:r>
          </a:p>
          <a:p>
            <a:pPr marL="0" indent="0">
              <a:buNone/>
            </a:pPr>
            <a:r>
              <a:rPr lang="en-US" b="1" dirty="0"/>
              <a:t>(4) 1 		</a:t>
            </a:r>
          </a:p>
          <a:p>
            <a:pPr marL="0" indent="0">
              <a:buNone/>
            </a:pPr>
            <a:r>
              <a:rPr lang="en-US" b="1" dirty="0"/>
              <a:t>(5) None of these</a:t>
            </a:r>
            <a:endParaRPr lang="en-US" dirty="0"/>
          </a:p>
        </p:txBody>
      </p:sp>
    </p:spTree>
    <p:extLst>
      <p:ext uri="{BB962C8B-B14F-4D97-AF65-F5344CB8AC3E}">
        <p14:creationId xmlns:p14="http://schemas.microsoft.com/office/powerpoint/2010/main" val="18442556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21</a:t>
            </a:r>
            <a:r>
              <a:rPr lang="en-US" b="1" dirty="0"/>
              <a:t>. A bucket contains a mixture of two liquids A and B in the proportion 5 : 3. If 16 liters of the mixture is replaced by 16 liters of liquid B, then the ratio of the two liquids becomes 3 : 5. How much of the liquid B was there in the bucket? </a:t>
            </a:r>
          </a:p>
          <a:p>
            <a:pPr>
              <a:buNone/>
            </a:pPr>
            <a:endParaRPr lang="en-US" b="1" dirty="0"/>
          </a:p>
          <a:p>
            <a:pPr marL="457200" indent="-457200">
              <a:buAutoNum type="arabicParenBoth"/>
            </a:pPr>
            <a:r>
              <a:rPr lang="en-US" b="1" dirty="0"/>
              <a:t>25 liters 		</a:t>
            </a:r>
          </a:p>
          <a:p>
            <a:pPr marL="0" indent="0">
              <a:buNone/>
            </a:pPr>
            <a:r>
              <a:rPr lang="en-US" b="1" dirty="0"/>
              <a:t>(2) 15 liters 		</a:t>
            </a:r>
          </a:p>
          <a:p>
            <a:pPr marL="0" indent="0">
              <a:buNone/>
            </a:pPr>
            <a:r>
              <a:rPr lang="en-US" b="1" dirty="0"/>
              <a:t>(3) 18 liters 		</a:t>
            </a:r>
          </a:p>
          <a:p>
            <a:pPr marL="0" indent="0">
              <a:buNone/>
            </a:pPr>
            <a:r>
              <a:rPr lang="en-US" b="1" dirty="0"/>
              <a:t>(4) 24 liters </a:t>
            </a:r>
          </a:p>
          <a:p>
            <a:pPr marL="457200" indent="-457200">
              <a:buNone/>
            </a:pPr>
            <a:r>
              <a:rPr lang="en-US" b="1" dirty="0"/>
              <a:t>(5) None of these</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21</a:t>
            </a:r>
            <a:r>
              <a:rPr lang="en-US" b="1" dirty="0"/>
              <a:t>. A bucket contains a mixture of two liquids A and B in the proportion 5 : 3. If 16 liters of the mixture is replaced by 16 liters of liquid B, then the ratio of the two liquids becomes 3 : 5. How much of the liquid B was there in the bucket? </a:t>
            </a:r>
          </a:p>
          <a:p>
            <a:pPr>
              <a:buNone/>
            </a:pPr>
            <a:endParaRPr lang="en-US" b="1" dirty="0"/>
          </a:p>
          <a:p>
            <a:pPr marL="457200" indent="-457200">
              <a:buAutoNum type="arabicParenBoth"/>
            </a:pPr>
            <a:r>
              <a:rPr lang="en-US" b="1" dirty="0"/>
              <a:t>25 liters 		</a:t>
            </a:r>
          </a:p>
          <a:p>
            <a:pPr marL="0" indent="0">
              <a:buNone/>
            </a:pPr>
            <a:r>
              <a:rPr lang="en-US" b="1" dirty="0">
                <a:solidFill>
                  <a:srgbClr val="FF0000"/>
                </a:solidFill>
              </a:rPr>
              <a:t>(2) 15 liters </a:t>
            </a:r>
            <a:r>
              <a:rPr lang="en-US" b="1" dirty="0"/>
              <a:t>		</a:t>
            </a:r>
          </a:p>
          <a:p>
            <a:pPr marL="0" indent="0">
              <a:buNone/>
            </a:pPr>
            <a:r>
              <a:rPr lang="en-US" b="1" dirty="0"/>
              <a:t>(3) 18 liters 		</a:t>
            </a:r>
          </a:p>
          <a:p>
            <a:pPr marL="0" indent="0">
              <a:buNone/>
            </a:pPr>
            <a:r>
              <a:rPr lang="en-US" b="1" dirty="0"/>
              <a:t>(4) 24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21391836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22</a:t>
            </a:r>
            <a:r>
              <a:rPr lang="en-US" b="1" dirty="0"/>
              <a:t>. A bucket contains a mixture of two liquids A and B in the proportion 6 : 5. If 33 liters of the mixture is replaced by 33 liters of liquid B, then the ratio of the two liquids becomes 3 : 4. How much of the liquid A was there in the bucket? </a:t>
            </a:r>
          </a:p>
          <a:p>
            <a:pPr marL="0" indent="0">
              <a:buNone/>
            </a:pPr>
            <a:endParaRPr lang="en-US" b="1" dirty="0"/>
          </a:p>
          <a:p>
            <a:pPr marL="457200" indent="-457200">
              <a:buAutoNum type="arabicParenBoth"/>
            </a:pPr>
            <a:r>
              <a:rPr lang="en-US" b="1" dirty="0"/>
              <a:t>84 liters 		</a:t>
            </a:r>
          </a:p>
          <a:p>
            <a:pPr marL="0" indent="0">
              <a:buNone/>
            </a:pPr>
            <a:r>
              <a:rPr lang="en-US" b="1" dirty="0"/>
              <a:t>(2) 48 liters 		</a:t>
            </a:r>
          </a:p>
          <a:p>
            <a:pPr marL="0" indent="0">
              <a:buNone/>
            </a:pPr>
            <a:r>
              <a:rPr lang="en-US" b="1" dirty="0"/>
              <a:t>(3) 70 liters 		</a:t>
            </a:r>
          </a:p>
          <a:p>
            <a:pPr marL="0" indent="0">
              <a:buNone/>
            </a:pPr>
            <a:r>
              <a:rPr lang="en-US" b="1" dirty="0"/>
              <a:t>(4) 64 liters </a:t>
            </a:r>
          </a:p>
          <a:p>
            <a:pPr marL="457200" indent="-457200">
              <a:buNone/>
            </a:pPr>
            <a:r>
              <a:rPr lang="en-US" b="1" dirty="0"/>
              <a:t>(5) None of these</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22</a:t>
            </a:r>
            <a:r>
              <a:rPr lang="en-US" b="1" dirty="0"/>
              <a:t>. A bucket contains a mixture of two liquids A and B in the proportion 6 : 5. If 33 liters of the mixture is replaced by 33 liters of liquid B, then the ratio of the two liquids becomes 3 : 4. How much of the liquid A was there in the bucket? </a:t>
            </a:r>
          </a:p>
          <a:p>
            <a:pPr marL="0" indent="0">
              <a:buNone/>
            </a:pPr>
            <a:endParaRPr lang="en-US" b="1" dirty="0"/>
          </a:p>
          <a:p>
            <a:pPr marL="457200" indent="-457200">
              <a:buAutoNum type="arabicParenBoth"/>
            </a:pPr>
            <a:r>
              <a:rPr lang="en-US" b="1" dirty="0">
                <a:solidFill>
                  <a:srgbClr val="FF0000"/>
                </a:solidFill>
              </a:rPr>
              <a:t>84 liters </a:t>
            </a:r>
            <a:r>
              <a:rPr lang="en-US" b="1" dirty="0"/>
              <a:t>		</a:t>
            </a:r>
          </a:p>
          <a:p>
            <a:pPr marL="0" indent="0">
              <a:buNone/>
            </a:pPr>
            <a:r>
              <a:rPr lang="en-US" b="1" dirty="0"/>
              <a:t>(2) 48 liters 		</a:t>
            </a:r>
          </a:p>
          <a:p>
            <a:pPr marL="0" indent="0">
              <a:buNone/>
            </a:pPr>
            <a:r>
              <a:rPr lang="en-US" b="1" dirty="0"/>
              <a:t>(3) 70 liters 		</a:t>
            </a:r>
          </a:p>
          <a:p>
            <a:pPr marL="0" indent="0">
              <a:buNone/>
            </a:pPr>
            <a:r>
              <a:rPr lang="en-US" b="1" dirty="0"/>
              <a:t>(4) 64 liters </a:t>
            </a:r>
          </a:p>
          <a:p>
            <a:pPr marL="457200" indent="-457200">
              <a:buNone/>
            </a:pPr>
            <a:r>
              <a:rPr lang="en-US" b="1" dirty="0"/>
              <a:t>(5) None of these</a:t>
            </a:r>
            <a:endParaRPr lang="en-US" dirty="0"/>
          </a:p>
        </p:txBody>
      </p:sp>
    </p:spTree>
    <p:extLst>
      <p:ext uri="{BB962C8B-B14F-4D97-AF65-F5344CB8AC3E}">
        <p14:creationId xmlns:p14="http://schemas.microsoft.com/office/powerpoint/2010/main" val="17223240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23</a:t>
            </a:r>
            <a:r>
              <a:rPr lang="en-US" b="1" dirty="0"/>
              <a:t>. An employer reduces the number of his employees in the ratio 9 : 4 and increases their wages in the ratio 2 : 5. State whether his bill of total wages increases or decreases, and in what ratio? </a:t>
            </a:r>
          </a:p>
          <a:p>
            <a:pPr marL="0" indent="0">
              <a:buNone/>
            </a:pPr>
            <a:endParaRPr lang="en-US" b="1" dirty="0"/>
          </a:p>
          <a:p>
            <a:pPr marL="457200" indent="-457200">
              <a:buAutoNum type="arabicParenBoth"/>
            </a:pPr>
            <a:r>
              <a:rPr lang="en-US" b="1" dirty="0"/>
              <a:t>Decrease, 10 : 9 	</a:t>
            </a:r>
          </a:p>
          <a:p>
            <a:pPr marL="0" indent="0">
              <a:buNone/>
            </a:pPr>
            <a:r>
              <a:rPr lang="en-US" b="1" dirty="0"/>
              <a:t>(2) Increase, 10 : 9 		</a:t>
            </a:r>
          </a:p>
          <a:p>
            <a:pPr marL="0" indent="0">
              <a:buNone/>
            </a:pPr>
            <a:r>
              <a:rPr lang="en-US" b="1" dirty="0"/>
              <a:t>(3) Decrease 9 : 11 </a:t>
            </a:r>
          </a:p>
          <a:p>
            <a:pPr marL="457200" indent="-457200">
              <a:buNone/>
            </a:pPr>
            <a:r>
              <a:rPr lang="en-US" b="1" dirty="0"/>
              <a:t>(4) Increase, 9 : 10 		</a:t>
            </a:r>
          </a:p>
          <a:p>
            <a:pPr marL="457200" indent="-457200">
              <a:buNone/>
            </a:pPr>
            <a:r>
              <a:rPr lang="en-US" b="1" dirty="0"/>
              <a:t>(5) None of these</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23</a:t>
            </a:r>
            <a:r>
              <a:rPr lang="en-US" b="1" dirty="0"/>
              <a:t>. An employer reduces the number of his employees in the ratio 9 : 4 and increases their wages in the ratio 2 : 5. State whether his bill of total wages increases or decreases, and in what ratio? </a:t>
            </a:r>
          </a:p>
          <a:p>
            <a:pPr marL="0" indent="0">
              <a:buNone/>
            </a:pPr>
            <a:endParaRPr lang="en-US" b="1" dirty="0"/>
          </a:p>
          <a:p>
            <a:pPr marL="457200" indent="-457200">
              <a:buAutoNum type="arabicParenBoth"/>
            </a:pPr>
            <a:r>
              <a:rPr lang="en-US" b="1" dirty="0"/>
              <a:t>Decrease, 10 : 9 	</a:t>
            </a:r>
          </a:p>
          <a:p>
            <a:pPr marL="0" indent="0">
              <a:buNone/>
            </a:pPr>
            <a:r>
              <a:rPr lang="en-US" b="1" dirty="0"/>
              <a:t>(2) Increase, 10 : 9 		</a:t>
            </a:r>
          </a:p>
          <a:p>
            <a:pPr marL="0" indent="0">
              <a:buNone/>
            </a:pPr>
            <a:r>
              <a:rPr lang="en-US" b="1" dirty="0"/>
              <a:t>(3) Decrease 9 : 11 </a:t>
            </a:r>
          </a:p>
          <a:p>
            <a:pPr marL="457200" indent="-457200">
              <a:buNone/>
            </a:pPr>
            <a:r>
              <a:rPr lang="en-US" b="1" dirty="0">
                <a:solidFill>
                  <a:srgbClr val="FF0000"/>
                </a:solidFill>
              </a:rPr>
              <a:t>(4) Increase, 9 : 10 </a:t>
            </a:r>
            <a:r>
              <a:rPr lang="en-US" b="1" dirty="0"/>
              <a:t>		</a:t>
            </a:r>
          </a:p>
          <a:p>
            <a:pPr marL="457200" indent="-457200">
              <a:buNone/>
            </a:pPr>
            <a:r>
              <a:rPr lang="en-US" b="1" dirty="0"/>
              <a:t>(5) None of these</a:t>
            </a:r>
          </a:p>
        </p:txBody>
      </p:sp>
    </p:spTree>
    <p:extLst>
      <p:ext uri="{BB962C8B-B14F-4D97-AF65-F5344CB8AC3E}">
        <p14:creationId xmlns:p14="http://schemas.microsoft.com/office/powerpoint/2010/main" val="39257653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24</a:t>
            </a:r>
            <a:r>
              <a:rPr lang="en-US" b="1" dirty="0"/>
              <a:t>. Two candles of the same height are lighted at the same time. The first is consumed in 7 hours and the second in 6 hours. If each candle burns at a constant rate, in how many hours after being lighted, the ratio between the first and second candles becomes 3 : 1. </a:t>
            </a:r>
          </a:p>
          <a:p>
            <a:pPr marL="457200" indent="-457200">
              <a:buAutoNum type="arabicParenBoth"/>
            </a:pPr>
            <a:r>
              <a:rPr lang="en-US" b="1" dirty="0"/>
              <a:t>5 hours 36 minutes 		</a:t>
            </a:r>
          </a:p>
          <a:p>
            <a:pPr marL="0" indent="0">
              <a:buNone/>
            </a:pPr>
            <a:r>
              <a:rPr lang="en-US" b="1" dirty="0"/>
              <a:t>(2) 5 hours 		</a:t>
            </a:r>
          </a:p>
          <a:p>
            <a:pPr marL="0" indent="0">
              <a:buNone/>
            </a:pPr>
            <a:r>
              <a:rPr lang="en-US" b="1" dirty="0"/>
              <a:t>(3) 5 hours 60 minutes </a:t>
            </a:r>
          </a:p>
          <a:p>
            <a:pPr marL="457200" indent="-457200">
              <a:buNone/>
            </a:pPr>
            <a:r>
              <a:rPr lang="en-US" b="1" dirty="0"/>
              <a:t>(4) 6 hours 				</a:t>
            </a:r>
          </a:p>
          <a:p>
            <a:pPr marL="457200" indent="-457200">
              <a:buNone/>
            </a:pPr>
            <a:r>
              <a:rPr lang="en-US" b="1" dirty="0"/>
              <a:t>(5)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24</a:t>
            </a:r>
            <a:r>
              <a:rPr lang="en-US" b="1" dirty="0"/>
              <a:t>. Two candles of the same height are lighted at the same time. The first is consumed in 7 hours and the second in 6 hours. If each candle burns at a constant rate, in how many hours after being lighted, the ratio between the first and second candles becomes 3 : 1. </a:t>
            </a:r>
          </a:p>
          <a:p>
            <a:pPr marL="457200" indent="-457200">
              <a:buAutoNum type="arabicParenBoth"/>
            </a:pPr>
            <a:r>
              <a:rPr lang="en-US" b="1" dirty="0">
                <a:solidFill>
                  <a:srgbClr val="FF0000"/>
                </a:solidFill>
              </a:rPr>
              <a:t>5 hours 36 minutes </a:t>
            </a:r>
            <a:r>
              <a:rPr lang="en-US" b="1" dirty="0"/>
              <a:t>		</a:t>
            </a:r>
          </a:p>
          <a:p>
            <a:pPr marL="0" indent="0">
              <a:buNone/>
            </a:pPr>
            <a:r>
              <a:rPr lang="en-US" b="1" dirty="0"/>
              <a:t>(2) 5 hours 		</a:t>
            </a:r>
          </a:p>
          <a:p>
            <a:pPr marL="0" indent="0">
              <a:buNone/>
            </a:pPr>
            <a:r>
              <a:rPr lang="en-US" b="1" dirty="0"/>
              <a:t>(3) 5 hours 60 minutes </a:t>
            </a:r>
          </a:p>
          <a:p>
            <a:pPr marL="457200" indent="-457200">
              <a:buNone/>
            </a:pPr>
            <a:r>
              <a:rPr lang="en-US" b="1" dirty="0"/>
              <a:t>(4) 6 hours 				</a:t>
            </a:r>
          </a:p>
          <a:p>
            <a:pPr marL="457200" indent="-457200">
              <a:buNone/>
            </a:pPr>
            <a:r>
              <a:rPr lang="en-US" b="1" dirty="0"/>
              <a:t>(5)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35666186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25</a:t>
            </a:r>
            <a:r>
              <a:rPr lang="en-US" b="1" dirty="0"/>
              <a:t>. Divide 680 among A, B and C such that A gets 2/3 of what B gets and B gets 1/4th of what C gets. What is C’s share? </a:t>
            </a:r>
          </a:p>
          <a:p>
            <a:pPr>
              <a:buNone/>
            </a:pPr>
            <a:endParaRPr lang="en-US" b="1" dirty="0"/>
          </a:p>
          <a:p>
            <a:pPr marL="457200" indent="-457200">
              <a:buAutoNum type="arabicParenBoth"/>
            </a:pPr>
            <a:r>
              <a:rPr lang="en-US" b="1" dirty="0"/>
              <a:t>280 	</a:t>
            </a:r>
          </a:p>
          <a:p>
            <a:pPr marL="0" indent="0">
              <a:buNone/>
            </a:pPr>
            <a:r>
              <a:rPr lang="en-US" b="1" dirty="0"/>
              <a:t>(2) 380 	</a:t>
            </a:r>
          </a:p>
          <a:p>
            <a:pPr marL="0" indent="0">
              <a:buNone/>
            </a:pPr>
            <a:r>
              <a:rPr lang="en-US" b="1" dirty="0"/>
              <a:t>(3) 480 	</a:t>
            </a:r>
          </a:p>
          <a:p>
            <a:pPr marL="0" indent="0">
              <a:buNone/>
            </a:pPr>
            <a:r>
              <a:rPr lang="en-US" b="1" dirty="0"/>
              <a:t>(4) 120 	</a:t>
            </a:r>
          </a:p>
          <a:p>
            <a:pPr marL="0" indent="0">
              <a:buNone/>
            </a:pPr>
            <a:r>
              <a:rPr lang="en-US" b="1" dirty="0"/>
              <a:t>(5) None of these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25</a:t>
            </a:r>
            <a:r>
              <a:rPr lang="en-US" b="1" dirty="0"/>
              <a:t>. Divide 680 among A, B and C such that A gets 2/3 of what B gets and B gets 1/4th of what C gets. What is C’s share? </a:t>
            </a:r>
          </a:p>
          <a:p>
            <a:pPr>
              <a:buNone/>
            </a:pPr>
            <a:endParaRPr lang="en-US" b="1" dirty="0"/>
          </a:p>
          <a:p>
            <a:pPr marL="457200" indent="-457200">
              <a:buAutoNum type="arabicParenBoth"/>
            </a:pPr>
            <a:r>
              <a:rPr lang="en-US" b="1" dirty="0"/>
              <a:t>280 	</a:t>
            </a:r>
          </a:p>
          <a:p>
            <a:pPr marL="0" indent="0">
              <a:buNone/>
            </a:pPr>
            <a:r>
              <a:rPr lang="en-US" b="1" dirty="0"/>
              <a:t>(2) 380 	</a:t>
            </a:r>
          </a:p>
          <a:p>
            <a:pPr marL="0" indent="0">
              <a:buNone/>
            </a:pPr>
            <a:r>
              <a:rPr lang="en-US" b="1" dirty="0">
                <a:solidFill>
                  <a:srgbClr val="FF0000"/>
                </a:solidFill>
              </a:rPr>
              <a:t>(3) 480 </a:t>
            </a:r>
            <a:r>
              <a:rPr lang="en-US" b="1" dirty="0"/>
              <a:t>	</a:t>
            </a:r>
          </a:p>
          <a:p>
            <a:pPr marL="0" indent="0">
              <a:buNone/>
            </a:pPr>
            <a:r>
              <a:rPr lang="en-US" b="1" dirty="0"/>
              <a:t>(4) 120 	</a:t>
            </a:r>
          </a:p>
          <a:p>
            <a:pPr marL="0" indent="0">
              <a:buNone/>
            </a:pPr>
            <a:r>
              <a:rPr lang="en-US" b="1" dirty="0"/>
              <a:t>(5) None of these</a:t>
            </a:r>
          </a:p>
        </p:txBody>
      </p:sp>
    </p:spTree>
    <p:extLst>
      <p:ext uri="{BB962C8B-B14F-4D97-AF65-F5344CB8AC3E}">
        <p14:creationId xmlns:p14="http://schemas.microsoft.com/office/powerpoint/2010/main" val="6565388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26</a:t>
            </a:r>
            <a:r>
              <a:rPr lang="en-US" b="1" dirty="0"/>
              <a:t>. When 50% of one number is added to a second number, the second number increases to its four-thirds. What is the ratio between the first number and the second number? </a:t>
            </a:r>
          </a:p>
          <a:p>
            <a:pPr>
              <a:buNone/>
            </a:pPr>
            <a:endParaRPr lang="en-US" b="1" dirty="0"/>
          </a:p>
          <a:p>
            <a:pPr marL="457200" indent="-457200">
              <a:buAutoNum type="arabicParenBoth"/>
            </a:pPr>
            <a:r>
              <a:rPr lang="en-US" b="1" dirty="0"/>
              <a:t>3 : 2 	</a:t>
            </a:r>
          </a:p>
          <a:p>
            <a:pPr marL="0" indent="0">
              <a:buNone/>
            </a:pPr>
            <a:r>
              <a:rPr lang="en-US" b="1" dirty="0"/>
              <a:t>(2) 3 : 4 	</a:t>
            </a:r>
          </a:p>
          <a:p>
            <a:pPr marL="0" indent="0">
              <a:buNone/>
            </a:pPr>
            <a:r>
              <a:rPr lang="en-US" b="1" dirty="0"/>
              <a:t>(3) 2 : 3 	</a:t>
            </a:r>
          </a:p>
          <a:p>
            <a:pPr marL="0" indent="0">
              <a:buNone/>
            </a:pPr>
            <a:r>
              <a:rPr lang="en-US" b="1" dirty="0"/>
              <a:t>(4) Data inadequate 	</a:t>
            </a:r>
          </a:p>
          <a:p>
            <a:pPr>
              <a:buNone/>
            </a:pPr>
            <a:r>
              <a:rPr lang="en-US" b="1" dirty="0"/>
              <a:t>(5) None of these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26</a:t>
            </a:r>
            <a:r>
              <a:rPr lang="en-US" b="1" dirty="0"/>
              <a:t>. When 50% of one number is added to a second number, the second number increases to its four-thirds. What is the ratio between the first number and the second number? </a:t>
            </a:r>
          </a:p>
          <a:p>
            <a:pPr>
              <a:buNone/>
            </a:pPr>
            <a:endParaRPr lang="en-US" b="1" dirty="0"/>
          </a:p>
          <a:p>
            <a:pPr marL="457200" indent="-457200">
              <a:buAutoNum type="arabicParenBoth"/>
            </a:pPr>
            <a:r>
              <a:rPr lang="en-US" b="1" dirty="0"/>
              <a:t>3 : 2 	</a:t>
            </a:r>
          </a:p>
          <a:p>
            <a:pPr marL="0" indent="0">
              <a:buNone/>
            </a:pPr>
            <a:r>
              <a:rPr lang="en-US" b="1" dirty="0"/>
              <a:t>(2) 3 : 4 	</a:t>
            </a:r>
          </a:p>
          <a:p>
            <a:pPr marL="0" indent="0">
              <a:buNone/>
            </a:pPr>
            <a:r>
              <a:rPr lang="en-US" b="1" dirty="0">
                <a:solidFill>
                  <a:srgbClr val="FF0000"/>
                </a:solidFill>
              </a:rPr>
              <a:t>(3) 2 : 3 </a:t>
            </a:r>
            <a:r>
              <a:rPr lang="en-US" b="1" dirty="0"/>
              <a:t>	</a:t>
            </a:r>
          </a:p>
          <a:p>
            <a:pPr marL="0" indent="0">
              <a:buNone/>
            </a:pPr>
            <a:r>
              <a:rPr lang="en-US" b="1" dirty="0"/>
              <a:t>(4) Data inadequate 	</a:t>
            </a:r>
          </a:p>
          <a:p>
            <a:pPr>
              <a:buNone/>
            </a:pPr>
            <a:r>
              <a:rPr lang="en-US" b="1" dirty="0"/>
              <a:t>(5) None of these</a:t>
            </a:r>
          </a:p>
        </p:txBody>
      </p:sp>
    </p:spTree>
    <p:extLst>
      <p:ext uri="{BB962C8B-B14F-4D97-AF65-F5344CB8AC3E}">
        <p14:creationId xmlns:p14="http://schemas.microsoft.com/office/powerpoint/2010/main" val="3721015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27</a:t>
            </a:r>
            <a:r>
              <a:rPr lang="en-US" b="1" dirty="0"/>
              <a:t>. 600 has been divided among A, B and C in such a way that 40 more than (2/5) of A’s share, 20 more than (2/7) of B’s share, 10 more than (9/17) of C’s share, are all equal. A’s share is : </a:t>
            </a:r>
          </a:p>
          <a:p>
            <a:pPr>
              <a:buNone/>
            </a:pPr>
            <a:endParaRPr lang="en-US" b="1" dirty="0"/>
          </a:p>
          <a:p>
            <a:pPr marL="457200" indent="-457200">
              <a:buAutoNum type="arabicParenBoth"/>
            </a:pPr>
            <a:r>
              <a:rPr lang="en-US" b="1" dirty="0"/>
              <a:t>280 	</a:t>
            </a:r>
          </a:p>
          <a:p>
            <a:pPr marL="0" indent="0">
              <a:buNone/>
            </a:pPr>
            <a:r>
              <a:rPr lang="en-US" b="1" dirty="0"/>
              <a:t>(2) 170 	</a:t>
            </a:r>
          </a:p>
          <a:p>
            <a:pPr marL="0" indent="0">
              <a:buNone/>
            </a:pPr>
            <a:r>
              <a:rPr lang="en-US" b="1" dirty="0"/>
              <a:t>(3) 150 	</a:t>
            </a:r>
          </a:p>
          <a:p>
            <a:pPr marL="0" indent="0">
              <a:buNone/>
            </a:pPr>
            <a:r>
              <a:rPr lang="en-US" b="1" dirty="0"/>
              <a:t>(4) 200 	</a:t>
            </a:r>
          </a:p>
          <a:p>
            <a:pPr marL="0" indent="0">
              <a:buNone/>
            </a:pPr>
            <a:r>
              <a:rPr lang="en-US" b="1" dirty="0"/>
              <a:t>(5) None of these</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33F322-9E4C-E349-09B1-6C4333239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F1ECD-4BE7-B928-0777-76DFE925B16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0C8ED564-29AA-A406-CAC4-C0899C37DCAA}"/>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27</a:t>
            </a:r>
            <a:r>
              <a:rPr lang="en-US" b="1" dirty="0"/>
              <a:t>. 600 has been divided among A, B and C in such a way that 40 more than (2/5) of A’s share, 20 more than (2/7) of B’s share, 10 more than (9/17) of C’s share, are all equal. A’s share is : </a:t>
            </a:r>
          </a:p>
          <a:p>
            <a:pPr>
              <a:buNone/>
            </a:pPr>
            <a:endParaRPr lang="en-US" b="1" dirty="0"/>
          </a:p>
          <a:p>
            <a:pPr marL="457200" indent="-457200">
              <a:buAutoNum type="arabicParenBoth"/>
            </a:pPr>
            <a:r>
              <a:rPr lang="en-US" b="1" dirty="0"/>
              <a:t>280 	</a:t>
            </a:r>
          </a:p>
          <a:p>
            <a:pPr marL="0" indent="0">
              <a:buNone/>
            </a:pPr>
            <a:r>
              <a:rPr lang="en-US" b="1" dirty="0"/>
              <a:t>(2) 170 	</a:t>
            </a:r>
          </a:p>
          <a:p>
            <a:pPr marL="0" indent="0">
              <a:buNone/>
            </a:pPr>
            <a:r>
              <a:rPr lang="en-US" b="1" dirty="0">
                <a:solidFill>
                  <a:srgbClr val="FF0000"/>
                </a:solidFill>
              </a:rPr>
              <a:t>(3) 150 </a:t>
            </a:r>
            <a:r>
              <a:rPr lang="en-US" b="1" dirty="0"/>
              <a:t>	</a:t>
            </a:r>
          </a:p>
          <a:p>
            <a:pPr marL="0" indent="0">
              <a:buNone/>
            </a:pPr>
            <a:r>
              <a:rPr lang="en-US" b="1" dirty="0"/>
              <a:t>(4) 200 	</a:t>
            </a:r>
          </a:p>
          <a:p>
            <a:pPr marL="0" indent="0">
              <a:buNone/>
            </a:pPr>
            <a:r>
              <a:rPr lang="en-US" b="1" dirty="0"/>
              <a:t>(5) None of these</a:t>
            </a:r>
            <a:endParaRPr lang="en-US" dirty="0"/>
          </a:p>
        </p:txBody>
      </p:sp>
    </p:spTree>
    <p:extLst>
      <p:ext uri="{BB962C8B-B14F-4D97-AF65-F5344CB8AC3E}">
        <p14:creationId xmlns:p14="http://schemas.microsoft.com/office/powerpoint/2010/main" val="14002912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28</a:t>
            </a:r>
            <a:r>
              <a:rPr lang="en-US" b="1" dirty="0"/>
              <a:t>. One year ago, the ratio between Laxman’s and Gopal’s salary was 3 : 4. The individual ratios between their last years and this year’s salaries are 4 : 5 and 2 : 3, respectively. At present the total of their salary is 4160. The salary of Laxman  now, is– </a:t>
            </a:r>
          </a:p>
          <a:p>
            <a:pPr>
              <a:buNone/>
            </a:pPr>
            <a:endParaRPr lang="en-US" b="1" dirty="0"/>
          </a:p>
          <a:p>
            <a:pPr marL="457200" indent="-457200">
              <a:buAutoNum type="arabicParenBoth"/>
            </a:pPr>
            <a:r>
              <a:rPr lang="en-US" b="1" dirty="0"/>
              <a:t>1600 	</a:t>
            </a:r>
          </a:p>
          <a:p>
            <a:pPr marL="0" indent="0">
              <a:buNone/>
            </a:pPr>
            <a:r>
              <a:rPr lang="en-US" b="1" dirty="0"/>
              <a:t>(2) 2560 	</a:t>
            </a:r>
          </a:p>
          <a:p>
            <a:pPr marL="0" indent="0">
              <a:buNone/>
            </a:pPr>
            <a:r>
              <a:rPr lang="en-US" b="1" dirty="0"/>
              <a:t>(3) 1040 	</a:t>
            </a:r>
          </a:p>
          <a:p>
            <a:pPr marL="0" indent="0">
              <a:buNone/>
            </a:pPr>
            <a:r>
              <a:rPr lang="en-US" b="1" dirty="0"/>
              <a:t>(4) 3120 	</a:t>
            </a:r>
          </a:p>
          <a:p>
            <a:pPr marL="0" indent="0">
              <a:buNone/>
            </a:pPr>
            <a:r>
              <a:rPr lang="en-US" b="1" dirty="0"/>
              <a:t>(5) None of these</a:t>
            </a:r>
            <a:r>
              <a:rPr lang="en-US" b="1" dirty="0">
                <a:latin typeface="Arial Black" pitchFamily="34" charset="0"/>
              </a:rPr>
              <a:t> </a:t>
            </a:r>
            <a:endParaRPr lang="en-US" b="1" dirty="0"/>
          </a:p>
          <a:p>
            <a:pPr>
              <a:buNone/>
            </a:pP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RATIO AND PROPORTION</a:t>
            </a:r>
          </a:p>
          <a:p>
            <a:pPr>
              <a:buNone/>
            </a:pPr>
            <a:r>
              <a:rPr lang="en-US" b="1" dirty="0">
                <a:latin typeface="Arial Black" pitchFamily="34" charset="0"/>
              </a:rPr>
              <a:t>Q 28</a:t>
            </a:r>
            <a:r>
              <a:rPr lang="en-US" b="1" dirty="0"/>
              <a:t>. One year ago, the ratio between Laxman’s  and Gopal’s  salary was 3 : 4. The individual ratios between their last years and this year’s salaries are 4 : 5 and 2 : 3, respectively. At present the total of their salary is 4160. The salary of Laxman now, is– </a:t>
            </a:r>
          </a:p>
          <a:p>
            <a:pPr>
              <a:buNone/>
            </a:pPr>
            <a:endParaRPr lang="en-US" b="1" dirty="0"/>
          </a:p>
          <a:p>
            <a:pPr marL="457200" indent="-457200">
              <a:buAutoNum type="arabicParenBoth"/>
            </a:pPr>
            <a:r>
              <a:rPr lang="en-US" b="1" dirty="0">
                <a:solidFill>
                  <a:srgbClr val="FF0000"/>
                </a:solidFill>
              </a:rPr>
              <a:t>1600</a:t>
            </a:r>
            <a:r>
              <a:rPr lang="en-US" b="1" dirty="0"/>
              <a:t> 	</a:t>
            </a:r>
          </a:p>
          <a:p>
            <a:pPr marL="0" indent="0">
              <a:buNone/>
            </a:pPr>
            <a:r>
              <a:rPr lang="en-US" b="1" dirty="0"/>
              <a:t>(2) 2560 	</a:t>
            </a:r>
          </a:p>
          <a:p>
            <a:pPr marL="0" indent="0">
              <a:buNone/>
            </a:pPr>
            <a:r>
              <a:rPr lang="en-US" b="1" dirty="0"/>
              <a:t>(3) 1040 	</a:t>
            </a:r>
          </a:p>
          <a:p>
            <a:pPr marL="0" indent="0">
              <a:buNone/>
            </a:pPr>
            <a:r>
              <a:rPr lang="en-US" b="1" dirty="0"/>
              <a:t>(4) 3120 	</a:t>
            </a:r>
          </a:p>
          <a:p>
            <a:pPr marL="0" indent="0">
              <a:buNone/>
            </a:pPr>
            <a:r>
              <a:rPr lang="en-US" b="1" dirty="0"/>
              <a:t>(5) None of these</a:t>
            </a:r>
            <a:r>
              <a:rPr lang="en-US" b="1" dirty="0">
                <a:latin typeface="Arial Black" pitchFamily="34" charset="0"/>
              </a:rPr>
              <a:t> </a:t>
            </a:r>
            <a:endParaRPr lang="en-US" b="1" dirty="0"/>
          </a:p>
          <a:p>
            <a:pPr>
              <a:buNone/>
            </a:pPr>
            <a:endParaRPr lang="en-US" dirty="0"/>
          </a:p>
        </p:txBody>
      </p:sp>
    </p:spTree>
    <p:extLst>
      <p:ext uri="{BB962C8B-B14F-4D97-AF65-F5344CB8AC3E}">
        <p14:creationId xmlns:p14="http://schemas.microsoft.com/office/powerpoint/2010/main" val="39782429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36CA4-7CCC-443B-BB2F-A2BE2FEECB81}"/>
              </a:ext>
            </a:extLst>
          </p:cNvPr>
          <p:cNvSpPr>
            <a:spLocks noGrp="1"/>
          </p:cNvSpPr>
          <p:nvPr>
            <p:ph type="title"/>
          </p:nvPr>
        </p:nvSpPr>
        <p:spPr/>
        <p:txBody>
          <a:bodyPr/>
          <a:lstStyle/>
          <a:p>
            <a:r>
              <a:rPr lang="en-US" dirty="0"/>
              <a:t> </a:t>
            </a:r>
            <a:endParaRPr lang="en-IN" dirty="0">
              <a:solidFill>
                <a:schemeClr val="bg1"/>
              </a:solidFill>
            </a:endParaRPr>
          </a:p>
        </p:txBody>
      </p:sp>
      <p:sp>
        <p:nvSpPr>
          <p:cNvPr id="3" name="Content Placeholder 2">
            <a:extLst>
              <a:ext uri="{FF2B5EF4-FFF2-40B4-BE49-F238E27FC236}">
                <a16:creationId xmlns:a16="http://schemas.microsoft.com/office/drawing/2014/main" id="{326F050C-91DF-47FF-922E-715DBE33FFD3}"/>
              </a:ext>
            </a:extLst>
          </p:cNvPr>
          <p:cNvSpPr>
            <a:spLocks noGrp="1"/>
          </p:cNvSpPr>
          <p:nvPr>
            <p:ph idx="1"/>
          </p:nvPr>
        </p:nvSpPr>
        <p:spPr>
          <a:xfrm>
            <a:off x="304800" y="1185333"/>
            <a:ext cx="11582400" cy="5068447"/>
          </a:xfrm>
        </p:spPr>
        <p:txBody>
          <a:bodyPr>
            <a:normAutofit/>
          </a:bodyPr>
          <a:lstStyle/>
          <a:p>
            <a:pPr marL="0" indent="0" algn="ctr">
              <a:buNone/>
            </a:pPr>
            <a:r>
              <a:rPr lang="en-US" sz="6600" b="1" dirty="0">
                <a:solidFill>
                  <a:srgbClr val="FF0000"/>
                </a:solidFill>
                <a:latin typeface="Arial Black" panose="020B0A04020102020204" pitchFamily="34" charset="0"/>
              </a:rPr>
              <a:t>THANK YOU </a:t>
            </a:r>
          </a:p>
        </p:txBody>
      </p:sp>
    </p:spTree>
    <p:extLst>
      <p:ext uri="{BB962C8B-B14F-4D97-AF65-F5344CB8AC3E}">
        <p14:creationId xmlns:p14="http://schemas.microsoft.com/office/powerpoint/2010/main" val="1847794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TesturPrep-Template</Template>
  <TotalTime>879</TotalTime>
  <Words>5302</Words>
  <Application>Microsoft Office PowerPoint</Application>
  <PresentationFormat>Widescreen</PresentationFormat>
  <Paragraphs>609</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Arial Black</vt:lpstr>
      <vt:lpstr>Calibri</vt:lpstr>
      <vt:lpstr>Calibri Light</vt:lpstr>
      <vt:lpstr>Cambria Math</vt:lpstr>
      <vt:lpstr>Times New Roman</vt:lpstr>
      <vt:lpstr>Wingdings</vt:lpstr>
      <vt:lpstr>Office Theme</vt:lpstr>
      <vt:lpstr> </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jai prakash</cp:lastModifiedBy>
  <cp:revision>159</cp:revision>
  <dcterms:created xsi:type="dcterms:W3CDTF">2020-02-23T06:37:57Z</dcterms:created>
  <dcterms:modified xsi:type="dcterms:W3CDTF">2025-07-28T10:41:37Z</dcterms:modified>
</cp:coreProperties>
</file>