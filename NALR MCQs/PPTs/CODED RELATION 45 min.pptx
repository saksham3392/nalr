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4" r:id="rId3"/>
    <p:sldId id="257" r:id="rId4"/>
    <p:sldId id="275" r:id="rId5"/>
    <p:sldId id="258" r:id="rId6"/>
    <p:sldId id="276" r:id="rId7"/>
    <p:sldId id="259" r:id="rId8"/>
    <p:sldId id="277" r:id="rId9"/>
    <p:sldId id="260" r:id="rId10"/>
    <p:sldId id="278" r:id="rId11"/>
    <p:sldId id="261" r:id="rId12"/>
    <p:sldId id="279" r:id="rId13"/>
    <p:sldId id="262" r:id="rId14"/>
    <p:sldId id="280" r:id="rId15"/>
    <p:sldId id="263" r:id="rId16"/>
    <p:sldId id="281" r:id="rId17"/>
    <p:sldId id="264" r:id="rId18"/>
    <p:sldId id="282" r:id="rId19"/>
    <p:sldId id="265" r:id="rId20"/>
    <p:sldId id="283" r:id="rId21"/>
    <p:sldId id="266" r:id="rId22"/>
    <p:sldId id="284" r:id="rId23"/>
    <p:sldId id="267" r:id="rId24"/>
    <p:sldId id="285" r:id="rId25"/>
    <p:sldId id="268" r:id="rId26"/>
    <p:sldId id="286" r:id="rId27"/>
    <p:sldId id="269" r:id="rId28"/>
    <p:sldId id="287" r:id="rId29"/>
    <p:sldId id="270" r:id="rId30"/>
    <p:sldId id="288" r:id="rId31"/>
    <p:sldId id="271" r:id="rId32"/>
    <p:sldId id="289" r:id="rId33"/>
    <p:sldId id="272" r:id="rId34"/>
    <p:sldId id="290" r:id="rId35"/>
    <p:sldId id="273" r:id="rId36"/>
    <p:sldId id="291" r:id="rId37"/>
    <p:sldId id="292" r:id="rId38"/>
  </p:sldIdLst>
  <p:sldSz cx="12192000" cy="6858000"/>
  <p:notesSz cx="6858000" cy="9144000"/>
  <p:embeddedFontLst>
    <p:embeddedFont>
      <p:font typeface="Arial Black" panose="020B0A04020102020204" pitchFamily="3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/PVBmHRSgAznO64LnR/+/3cm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16" y="6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373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724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84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927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00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002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81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3468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5898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6793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5322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5121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1292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69424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6091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27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6001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542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26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2C553-650A-43C3-BE8E-1B01C81A1F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304800" y="1185333"/>
            <a:ext cx="115824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dt" idx="10"/>
          </p:nvPr>
        </p:nvSpPr>
        <p:spPr>
          <a:xfrm>
            <a:off x="304800" y="638069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ftr" idx="11"/>
          </p:nvPr>
        </p:nvSpPr>
        <p:spPr>
          <a:xfrm>
            <a:off x="4038600" y="63806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8610599" y="6356350"/>
            <a:ext cx="3276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2"/>
          <p:cNvSpPr/>
          <p:nvPr/>
        </p:nvSpPr>
        <p:spPr>
          <a:xfrm>
            <a:off x="3706812" y="981604"/>
            <a:ext cx="4879976" cy="4879976"/>
          </a:xfrm>
          <a:prstGeom prst="rect">
            <a:avLst/>
          </a:prstGeom>
          <a:blipFill rotWithShape="1">
            <a:blip r:embed="rId2">
              <a:alphaModFix amt="3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(vi) A × B means A is the brother of B.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1800" b="1" dirty="0"/>
              <a:t>1. How is P related to U in the given expression?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P $ Q % R × S % T # U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(a) Brother 	(b) Father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(c) Cousin 	(d) Husband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(e) None of these</a:t>
            </a:r>
            <a:endParaRPr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(vi) A × B means A is the brother of B.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sz="1800" b="1" dirty="0"/>
              <a:t>1. How is P related to U in the given expression?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P $ Q % R × S % T # U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(a) Brother 	(b) Father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(c) Cousin 	</a:t>
            </a:r>
            <a:r>
              <a:rPr lang="en-US" sz="1800" b="1" dirty="0">
                <a:solidFill>
                  <a:srgbClr val="FF0000"/>
                </a:solidFill>
              </a:rPr>
              <a:t>(d) Husband </a:t>
            </a:r>
            <a:endParaRPr dirty="0">
              <a:solidFill>
                <a:srgbClr val="FF000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(e) None of these</a:t>
            </a:r>
            <a:endParaRPr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49C80-3BC0-F622-33AA-B04298B1E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880" y="3997193"/>
            <a:ext cx="5658640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6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</a:t>
            </a:r>
            <a:r>
              <a:rPr lang="en-US" sz="2000" b="1" dirty="0"/>
              <a:t>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</a:t>
            </a:r>
            <a:r>
              <a:rPr lang="en-US" b="1" dirty="0"/>
              <a:t>.</a:t>
            </a: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 dirty="0"/>
              <a:t>2.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# Q @ R * S $ T %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Brother 	(b) Sister 	(c) Cousin 	(d) Brother or Sister 	(e) None of these 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</a:t>
            </a:r>
            <a:r>
              <a:rPr lang="en-US" sz="2000" b="1" dirty="0"/>
              <a:t>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</a:t>
            </a:r>
            <a:r>
              <a:rPr lang="en-US" b="1" dirty="0"/>
              <a:t>.</a:t>
            </a: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 dirty="0"/>
              <a:t>2.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# Q @ R * S $ T %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Brother 	</a:t>
            </a:r>
            <a:r>
              <a:rPr lang="en-US" b="1" dirty="0">
                <a:solidFill>
                  <a:srgbClr val="FF0000"/>
                </a:solidFill>
              </a:rPr>
              <a:t>(b) Sister </a:t>
            </a:r>
            <a:r>
              <a:rPr lang="en-US" b="1" dirty="0"/>
              <a:t>	(c) Cousin 	(d) Brother or Sister 	(e) None of these 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1F1BE-0D9D-C4A0-4A8C-361E0B27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384" y="2419350"/>
            <a:ext cx="7415152" cy="18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1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3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$ Q × R % S * T #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Son      (b) Son-in-law 	     (c) Brother 	(d) Father-in-law 	  (e) Now of these 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3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$ Q × R % S * T #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Son      </a:t>
            </a:r>
            <a:r>
              <a:rPr lang="en-US" b="1" dirty="0">
                <a:solidFill>
                  <a:srgbClr val="FF0000"/>
                </a:solidFill>
              </a:rPr>
              <a:t>(b) Son-in-law </a:t>
            </a:r>
            <a:r>
              <a:rPr lang="en-US" b="1" dirty="0"/>
              <a:t>	     (c) Brother 	(d) Father-in-law 	  (e) Now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6503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4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* Q # R @ S $ T %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Brother 		(b) Sister 		(c) Father 		(d) Uncle 	  (e) Cousin </a:t>
            </a: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4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* Q # R @ S $ T % U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(a) Brother 		(b) Sister 		(c) Father 		(d) Uncle 	  </a:t>
            </a:r>
            <a:r>
              <a:rPr lang="en-US" b="1" dirty="0">
                <a:solidFill>
                  <a:srgbClr val="FF0000"/>
                </a:solidFill>
              </a:rPr>
              <a:t>(e) Cousin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8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5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* Q % R # S $ T *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Paternal Grandson 	(b) Maternal Grandson 	(c) Paternal Granddaughter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Maternal Granddaughter 				e) None of these </a:t>
            </a:r>
            <a:endParaRPr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(1) A * B means A is the son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A % B means A is the sister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$ B means A is the father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@ B means A is the mother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(v) A # B means A is the daughter of B.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(vi) A × B means A is the brother of B.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5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P * Q % R # S $ T *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Paternal Grandson 	</a:t>
            </a:r>
            <a:r>
              <a:rPr lang="en-US" b="1" dirty="0">
                <a:solidFill>
                  <a:srgbClr val="FF0000"/>
                </a:solidFill>
              </a:rPr>
              <a:t>(b) Maternal Grandson </a:t>
            </a:r>
            <a:r>
              <a:rPr lang="en-US" b="1" dirty="0"/>
              <a:t>	(c) Paternal Granddaughter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Maternal Granddaughter 				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68427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LcParenBoth"/>
            </a:pPr>
            <a:r>
              <a:rPr lang="en-US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(iv) A b </a:t>
            </a:r>
            <a:r>
              <a:rPr lang="en-US" b="1" dirty="0" err="1"/>
              <a:t>B</a:t>
            </a:r>
            <a:r>
              <a:rPr lang="en-US" b="1" dirty="0"/>
              <a:t> means A is the brother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Q 6. Which of the following means 'R is uncle of T'?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R * P b S D Q •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S * P b R D U b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P * R b Q • S *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* R • Q • S *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2" name="Google Shape;132;p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LcParenBoth"/>
            </a:pPr>
            <a:r>
              <a:rPr lang="en-US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(iv) A b </a:t>
            </a:r>
            <a:r>
              <a:rPr lang="en-US" b="1" dirty="0" err="1"/>
              <a:t>B</a:t>
            </a:r>
            <a:r>
              <a:rPr lang="en-US" b="1" dirty="0"/>
              <a:t> means A is the brother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Q 6. Which of the following means 'R is uncle of T'?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R * P b S D Q •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S * P b R D U b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P * R b Q • S * T </a:t>
            </a:r>
            <a:endParaRPr dirty="0">
              <a:solidFill>
                <a:srgbClr val="FF000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* R • Q • S *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435550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7</a:t>
            </a:r>
            <a:r>
              <a:rPr lang="en-US" b="1" dirty="0"/>
              <a:t>. Which of the following means ‘X is the mother of U'?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X D Y b Z * K • U 	(b) P b X D O b U 		(c) X D Z • K b Y *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* X D Y * O b U 	(e) None of these </a:t>
            </a:r>
            <a:endParaRPr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7</a:t>
            </a:r>
            <a:r>
              <a:rPr lang="en-US" b="1" dirty="0"/>
              <a:t>. Which of the following means ‘X is the mother of U'?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X D Y b Z * K • U 	</a:t>
            </a:r>
            <a:r>
              <a:rPr lang="en-US" b="1" dirty="0">
                <a:solidFill>
                  <a:srgbClr val="FF0000"/>
                </a:solidFill>
              </a:rPr>
              <a:t>(b) P b X D O b U </a:t>
            </a:r>
            <a:r>
              <a:rPr lang="en-US" b="1" dirty="0"/>
              <a:t>		(c) X D Z • K b Y *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* X D Y * O b U 	(e)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36186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8</a:t>
            </a:r>
            <a:r>
              <a:rPr lang="en-US" b="1" dirty="0"/>
              <a:t>. Which of the following means ‘L is the paternal grandfather of O'?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L * R • M b K b O 	(b) R * L D P b K • O 	(c) L * M D R * K b O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L * R b M * K b O 	(e) None of these </a:t>
            </a:r>
            <a:endParaRPr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8</a:t>
            </a:r>
            <a:r>
              <a:rPr lang="en-US" b="1" dirty="0"/>
              <a:t>. Which of the following means ‘L is the paternal grandfather of O'?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L * R • M b K b O 	(b) R * L D P b K • O 	(c) L * M D R * K b O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(d) L * R b M * K b O </a:t>
            </a:r>
            <a:r>
              <a:rPr lang="en-US" b="1" dirty="0"/>
              <a:t>	(e)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26347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0" name="Google Shape;150;p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9</a:t>
            </a:r>
            <a:r>
              <a:rPr lang="en-US" b="1" dirty="0"/>
              <a:t>. Which of the following means ‘R is the daughter of P'?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 * L b K b R 	(b) X D P * R • O 	(c) P D K b L • R * X 	(d) X D P * R b O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(e) None of these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0" name="Google Shape;150;p9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987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A D B means A is the mother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 A • B means A is the sister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A * B means A is the father of B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A b </a:t>
            </a:r>
            <a:r>
              <a:rPr lang="en-US" sz="2000" b="1" dirty="0" err="1"/>
              <a:t>B</a:t>
            </a:r>
            <a:r>
              <a:rPr lang="en-US" sz="2000" b="1" dirty="0"/>
              <a:t> means A is the brother of B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9</a:t>
            </a:r>
            <a:r>
              <a:rPr lang="en-US" b="1" dirty="0"/>
              <a:t>. Which of the following means ‘R is the daughter of P'?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 * L b K b R 	</a:t>
            </a:r>
            <a:r>
              <a:rPr lang="en-US" b="1" dirty="0">
                <a:solidFill>
                  <a:srgbClr val="FF0000"/>
                </a:solidFill>
              </a:rPr>
              <a:t>(b) X D P * R • O </a:t>
            </a:r>
            <a:r>
              <a:rPr lang="en-US" b="1" dirty="0"/>
              <a:t>	(c) P D K b L • R * X 	(d) X D P * R b O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(e) None of these</a:t>
            </a: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b="1" dirty="0"/>
              <a:t>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539239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'A x B' means 'A is the wife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‘A – B’ means ‘A is the father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‘A ÷ B’ means ‘A is the son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‘A + B’ means ‘A is the daughter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Q 10. Which of the following means T is the wife of P?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 x S ÷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P ÷ S x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P – S ÷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+ T ÷ S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arenBoth"/>
            </a:pPr>
            <a:r>
              <a:rPr lang="en-US" sz="2000" b="1" dirty="0"/>
              <a:t>'A x B' means 'A is the wife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(ii) ‘A – B’ means ‘A is the father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(iii) ‘A ÷ B’ means ‘A is the son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(iv) ‘A + B’ means ‘A is the daughter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Q 10. Which of the following means T is the wife of P?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P x S ÷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P ÷ S x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P – S ÷ T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P + T ÷ S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(e) None of these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329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)'A x B' means 'A is the wife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‘A – B’ means ‘A is the father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‘A ÷ B’ means ‘A is the son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‘A + B’ means ‘A is the daughter of B’.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 dirty="0"/>
              <a:t>11. Which of the following means P is the maternal grandson of S?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P + Q –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P ÷ Q x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P ÷ Q +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P x Q ÷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questions, which follow: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)'A x B' means 'A is the wife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‘A – B’ means ‘A is the father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‘A ÷ B’ means ‘A is the son of B’.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‘A + B’ means ‘A is the daughter of B’.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</a:t>
            </a:r>
            <a:r>
              <a:rPr lang="en-US" b="1" dirty="0"/>
              <a:t>11. Which of the following means P is the maternal grandson of S?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P + Q –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P ÷ Q x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(c) P ÷ Q + S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P x Q ÷ S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77026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8" name="Google Shape;168;p1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12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U + T x S ÷ R x Q +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Father 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Paternal grandfather 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Maternal grandfather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Great grandfather 			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68" name="Google Shape;168;p12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12</a:t>
            </a:r>
            <a:r>
              <a:rPr lang="en-US" b="1" dirty="0"/>
              <a:t>. How is P related to U in the given expression?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U + T x S ÷ R x Q +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Father 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(b) Paternal grandfather </a:t>
            </a:r>
            <a:r>
              <a:rPr lang="en-US" b="1" dirty="0"/>
              <a:t>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Maternal grandfather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Great grandfather 					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778153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</a:t>
            </a:r>
            <a:r>
              <a:rPr lang="en-US" b="1" dirty="0"/>
              <a:t>. In which of the given expressions P is the brother of U?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U x T ÷ S – R + Q # P 			(b) U x T x S – R + Q x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U ÷ T – S + R + Q x P 			(d) U ÷ T – S # R + Q ÷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U ÷ T – S # R + Q @ P </a:t>
            </a:r>
            <a:endParaRPr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13</a:t>
            </a:r>
            <a:r>
              <a:rPr lang="en-US" b="1" dirty="0"/>
              <a:t>. In which of the given expressions P is the brother of U?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U x T ÷ S – R + Q # P 			(b) U x T x S – R + Q x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U ÷ T – S + R + Q x P 			(d) U ÷ T – S # R + Q ÷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(e) U ÷ T – S # R + Q @ P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876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0" name="Google Shape;180;p1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</a:t>
            </a:r>
            <a:r>
              <a:rPr lang="en-US" b="1" dirty="0"/>
              <a:t>. In which of the given expressions P is the mother-in-law of U?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U @ T x S ÷ R – Q – P 			(b) U # T ÷ S x R – Q +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P @ Q x R ÷ S – T – U 			(d) P # Q ÷ R ÷ S – T +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U # T – S ÷ R  Q + P </a:t>
            </a:r>
            <a:endParaRPr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0" name="Google Shape;180;p14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Read the following information carefully and answer the questions given below: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) A + B means B is the father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(ii) A – B means B is the mother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(iii) A x B means B is the brother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(iv) A ÷ B means B is the sister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(v) A @ B means B is the son of A. 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(vi) A # B means B is the daughter of A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14</a:t>
            </a:r>
            <a:r>
              <a:rPr lang="en-US" b="1" dirty="0"/>
              <a:t>. In which of the given expressions P is the mother-in-law of U?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U @ T x S ÷ R – Q – P </a:t>
            </a:r>
            <a:r>
              <a:rPr lang="en-US" b="1" dirty="0"/>
              <a:t>			(b) U # T ÷ S x R – Q + P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P @ Q x R ÷ S – T – U 			(d) P # Q ÷ R ÷ S – T + U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U # T – S ÷ R  Q + P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733228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15. Which of the following indicates that 'C' is the paternal uncle of 'D'?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C £ V # N @ L © D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C £ V£ L @ N © D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D £ L £ N @ V © C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D £ N # V @ L © C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15. Which of the following indicates that 'C' is the paternal uncle of 'D'?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Both"/>
            </a:pPr>
            <a:r>
              <a:rPr lang="en-US" b="1" dirty="0"/>
              <a:t>C £ V # N @ L © D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C £ V£ L @ N © D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(c) D £ L £ N @ V © C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D £ N # V @ L © C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9569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2" name="Google Shape;192;p1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16</a:t>
            </a:r>
            <a:r>
              <a:rPr lang="en-US" b="1" dirty="0"/>
              <a:t>. Which of the following is a correct conclusion drawn from the expression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 'Q £ N @ S © M = P' 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(a) S is the brother of P.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N has two sons and two daughters.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S is the sister of Q.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P is the sister of Q.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2" name="Google Shape;192;p16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16</a:t>
            </a:r>
            <a:r>
              <a:rPr lang="en-US" b="1" dirty="0"/>
              <a:t>. Which of the following is a correct conclusion drawn from the expression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 'Q £ N @ S © M = P' 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(a) S is the brother of P.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N has two sons and two daughters.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S is the sister of Q.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(d) P is the sister of Q.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0717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17</a:t>
            </a:r>
            <a:r>
              <a:rPr lang="en-US" b="1" dirty="0"/>
              <a:t>. Which of the following is the correct conclusion drawn from the expression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'L = M # N © P + Q' 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(a) Q is the grandson of M.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L is the uncle of N.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N is the uncle of Q.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Q is the niece of N.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17</a:t>
            </a:r>
            <a:r>
              <a:rPr lang="en-US" b="1" dirty="0"/>
              <a:t>. Which of the following is the correct conclusion drawn from the expression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'L = M # N © P + Q' 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(a) Q is the grandson of M.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L is the uncle of N.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N is the uncle of Q.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Q is the niece of N.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(e) None of these 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529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18</a:t>
            </a:r>
            <a:r>
              <a:rPr lang="en-US" b="1" dirty="0"/>
              <a:t>. What does the expression P @ R = S © T £ V mean?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(a) V is the husband of P.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R is the son of V.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R is the daughter of V.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V is the wife of P.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4294967295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CODED RELATION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Directions: These questions are based on the following information: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© Q' means 'Q is the brother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# Q' means 'P is the daughter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= Q' means 'Q is the sister of P'.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£ Q' means 'P is the son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+ Q' means 'P is the father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'P @ Q‘ means 'P is the mother of Q'.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Arial Black"/>
                <a:ea typeface="Arial Black"/>
                <a:cs typeface="Arial Black"/>
                <a:sym typeface="Arial Black"/>
              </a:rPr>
              <a:t>Q 18</a:t>
            </a:r>
            <a:r>
              <a:rPr lang="en-US" b="1" dirty="0"/>
              <a:t>. What does the expression P @ R = S © T £ V mean?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solidFill>
                  <a:srgbClr val="FF0000"/>
                </a:solidFill>
              </a:rPr>
              <a:t>(a) V is the husband of P. </a:t>
            </a:r>
            <a:endParaRPr dirty="0"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(b) R is the son of V.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(c) R is the daughter of V.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(d) V is the wife of P. 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(e) None of these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352035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9D032-2515-74BB-023F-70112384DE0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591848" y="1870870"/>
            <a:ext cx="7749357" cy="2505114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96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398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5559</Words>
  <Application>Microsoft Office PowerPoint</Application>
  <PresentationFormat>Widescreen</PresentationFormat>
  <Paragraphs>502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 Black</vt:lpstr>
      <vt:lpstr>Calibri</vt:lpstr>
      <vt:lpstr>Arial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REASONING</dc:title>
  <dc:creator>anuj gupta</dc:creator>
  <cp:lastModifiedBy>Saksham Sheoran</cp:lastModifiedBy>
  <cp:revision>5</cp:revision>
  <dcterms:created xsi:type="dcterms:W3CDTF">2020-02-23T06:37:57Z</dcterms:created>
  <dcterms:modified xsi:type="dcterms:W3CDTF">2026-07-16T12:40:00Z</dcterms:modified>
</cp:coreProperties>
</file>